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59" r:id="rId4"/>
    <p:sldId id="258" r:id="rId5"/>
    <p:sldId id="260" r:id="rId6"/>
    <p:sldId id="269" r:id="rId7"/>
    <p:sldId id="270" r:id="rId8"/>
    <p:sldId id="271" r:id="rId9"/>
    <p:sldId id="272" r:id="rId10"/>
    <p:sldId id="273" r:id="rId11"/>
    <p:sldId id="274" r:id="rId12"/>
    <p:sldId id="276" r:id="rId13"/>
    <p:sldId id="277" r:id="rId14"/>
    <p:sldId id="278" r:id="rId15"/>
    <p:sldId id="279" r:id="rId16"/>
    <p:sldId id="281" r:id="rId17"/>
    <p:sldId id="280" r:id="rId18"/>
    <p:sldId id="282" r:id="rId19"/>
    <p:sldId id="283" r:id="rId20"/>
    <p:sldId id="284"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AC128F-2F61-4E28-9AF4-E256F05793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9AC128F-2F61-4E28-9AF4-E256F05793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49AC128F-2F61-4E28-9AF4-E256F05793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49AC128F-2F61-4E28-9AF4-E256F05793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49AC128F-2F61-4E28-9AF4-E256F0579328}"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AC128F-2F61-4E28-9AF4-E256F0579328}"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AC128F-2F61-4E28-9AF4-E256F0579328}"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9AC128F-2F61-4E28-9AF4-E256F05793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49AC128F-2F61-4E28-9AF4-E256F0579328}"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9AC128F-2F61-4E28-9AF4-E256F05793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49AC128F-2F61-4E28-9AF4-E256F0579328}"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08C1DC-E8AC-4FB0-B456-B243BFF3FBA6}"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showMasterSp="0">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gs>
            <a:gs pos="62000">
              <a:schemeClr val="bg1"/>
            </a:gs>
            <a:gs pos="100000">
              <a:schemeClr val="accent1"/>
            </a:gs>
            <a:gs pos="100000">
              <a:schemeClr val="bg1"/>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AC128F-2F61-4E28-9AF4-E256F0579328}"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08C1DC-E8AC-4FB0-B456-B243BFF3FBA6}"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gs>
            <a:gs pos="62000">
              <a:schemeClr val="bg1"/>
            </a:gs>
            <a:gs pos="100000">
              <a:schemeClr val="accent1"/>
            </a:gs>
            <a:gs pos="100000">
              <a:schemeClr val="bg1"/>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E64EB2-52B2-41A6-820E-6694E5E33588}" type="datetimeFigureOut">
              <a:rPr lang="en-US" smtClean="0">
                <a:solidFill>
                  <a:prstClr val="black">
                    <a:tint val="75000"/>
                  </a:prstClr>
                </a:solidFill>
              </a:rPr>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C3A5AD-C509-4563-8F03-165FF19F5B04}" type="slidenum">
              <a:rPr lang="en-US" smtClean="0">
                <a:solidFill>
                  <a:prstClr val="black">
                    <a:tint val="75000"/>
                  </a:prstClr>
                </a:solidFill>
              </a:rPr>
            </a:fld>
            <a:endParaRPr 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5.jpeg"/><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72221"/>
            <a:ext cx="9144000" cy="1293459"/>
          </a:xfrm>
        </p:spPr>
        <p:txBody>
          <a:bodyPr>
            <a:normAutofit fontScale="90000"/>
          </a:bodyPr>
          <a:lstStyle/>
          <a:p>
            <a:r>
              <a:rPr lang="vi-VN" sz="3600"/>
              <a:t>TRƯỜNG ĐẠI HỌC TRÀ VINH</a:t>
            </a:r>
            <a:br>
              <a:rPr lang="vi-VN" sz="3600"/>
            </a:br>
            <a:r>
              <a:rPr lang="vi-VN" sz="3600"/>
              <a:t>KHOA KỸ THUẬT VÀ CÔNG NGHỆ</a:t>
            </a:r>
            <a:br>
              <a:rPr lang="vi-VN" sz="3600"/>
            </a:br>
            <a:endParaRPr lang="en-US" sz="3600"/>
          </a:p>
        </p:txBody>
      </p:sp>
      <p:sp>
        <p:nvSpPr>
          <p:cNvPr id="3" name="Subtitle 2"/>
          <p:cNvSpPr>
            <a:spLocks noGrp="1"/>
          </p:cNvSpPr>
          <p:nvPr>
            <p:ph type="subTitle" idx="1"/>
          </p:nvPr>
        </p:nvSpPr>
        <p:spPr>
          <a:xfrm>
            <a:off x="0" y="1828801"/>
            <a:ext cx="12192000" cy="4741332"/>
          </a:xfrm>
        </p:spPr>
        <p:txBody>
          <a:bodyPr>
            <a:normAutofit lnSpcReduction="20000"/>
          </a:bodyPr>
          <a:lstStyle/>
          <a:p>
            <a:r>
              <a:rPr lang="en-US" sz="3600" b="1">
                <a:latin typeface="Times New Roman" panose="02020603050405020304" pitchFamily="18" charset="0"/>
                <a:cs typeface="Times New Roman" panose="02020603050405020304" pitchFamily="18" charset="0"/>
              </a:rPr>
              <a:t>BÁO CÁO THỰC </a:t>
            </a:r>
            <a:r>
              <a:rPr lang="en-US" sz="3600" b="1" smtClean="0">
                <a:latin typeface="Times New Roman" panose="02020603050405020304" pitchFamily="18" charset="0"/>
                <a:cs typeface="Times New Roman" panose="02020603050405020304" pitchFamily="18" charset="0"/>
              </a:rPr>
              <a:t>TẬP ĐỒ </a:t>
            </a:r>
            <a:r>
              <a:rPr lang="en-US" sz="3600" b="1">
                <a:latin typeface="Times New Roman" panose="02020603050405020304" pitchFamily="18" charset="0"/>
                <a:cs typeface="Times New Roman" panose="02020603050405020304" pitchFamily="18" charset="0"/>
              </a:rPr>
              <a:t>ÁN CƠ SỞ </a:t>
            </a:r>
            <a:r>
              <a:rPr lang="en-US" sz="3600" b="1" smtClean="0">
                <a:latin typeface="Times New Roman" panose="02020603050405020304" pitchFamily="18" charset="0"/>
                <a:cs typeface="Times New Roman" panose="02020603050405020304" pitchFamily="18" charset="0"/>
              </a:rPr>
              <a:t>NGÀNH</a:t>
            </a:r>
            <a:endParaRPr lang="en-US" sz="3600" b="1" smtClean="0">
              <a:latin typeface="Times New Roman" panose="02020603050405020304" pitchFamily="18" charset="0"/>
              <a:cs typeface="Times New Roman" panose="02020603050405020304" pitchFamily="18" charset="0"/>
            </a:endParaRPr>
          </a:p>
          <a:p>
            <a:r>
              <a:rPr lang="en-US" altLang="en-US" sz="3200" smtClean="0">
                <a:latin typeface="Times New Roman" panose="02020603050405020304" pitchFamily="18" charset="0"/>
                <a:cs typeface="Times New Roman" panose="02020603050405020304" pitchFamily="18" charset="0"/>
              </a:rPr>
              <a:t>Phát triển website bán dụng cụ học tập h</a:t>
            </a:r>
            <a:r>
              <a:rPr lang="" altLang="en-US" sz="3200" smtClean="0">
                <a:latin typeface="Times New Roman" panose="02020603050405020304" pitchFamily="18" charset="0"/>
                <a:cs typeface="Times New Roman" panose="02020603050405020304" pitchFamily="18" charset="0"/>
              </a:rPr>
              <a:t>ư</a:t>
            </a:r>
            <a:r>
              <a:rPr lang="en-US" altLang="en-US" sz="3200" smtClean="0">
                <a:latin typeface="Times New Roman" panose="02020603050405020304" pitchFamily="18" charset="0"/>
                <a:cs typeface="Times New Roman" panose="02020603050405020304" pitchFamily="18" charset="0"/>
              </a:rPr>
              <a:t>ớng </a:t>
            </a:r>
            <a:r>
              <a:rPr lang="" altLang="en-US" sz="3200" smtClean="0">
                <a:latin typeface="Times New Roman" panose="02020603050405020304" pitchFamily="18" charset="0"/>
                <a:cs typeface="Times New Roman" panose="02020603050405020304" pitchFamily="18" charset="0"/>
              </a:rPr>
              <a:t>đ</a:t>
            </a:r>
            <a:r>
              <a:rPr lang="en-US" altLang="en-US" sz="3200" smtClean="0">
                <a:latin typeface="Times New Roman" panose="02020603050405020304" pitchFamily="18" charset="0"/>
                <a:cs typeface="Times New Roman" panose="02020603050405020304" pitchFamily="18" charset="0"/>
              </a:rPr>
              <a:t>ến trải nghiệm </a:t>
            </a:r>
            <a:endParaRPr lang="en-US" altLang="en-US" sz="3200" smtClean="0">
              <a:latin typeface="Times New Roman" panose="02020603050405020304" pitchFamily="18" charset="0"/>
              <a:cs typeface="Times New Roman" panose="02020603050405020304" pitchFamily="18" charset="0"/>
            </a:endParaRPr>
          </a:p>
          <a:p>
            <a:r>
              <a:rPr lang="en-US" altLang="en-US" sz="3200" smtClean="0">
                <a:latin typeface="Times New Roman" panose="02020603050405020304" pitchFamily="18" charset="0"/>
                <a:cs typeface="Times New Roman" panose="02020603050405020304" pitchFamily="18" charset="0"/>
              </a:rPr>
              <a:t>ng</a:t>
            </a:r>
            <a:r>
              <a:rPr lang="" altLang="en-US" sz="3200" smtClean="0">
                <a:latin typeface="Times New Roman" panose="02020603050405020304" pitchFamily="18" charset="0"/>
                <a:cs typeface="Times New Roman" panose="02020603050405020304" pitchFamily="18" charset="0"/>
              </a:rPr>
              <a:t>ư</a:t>
            </a:r>
            <a:r>
              <a:rPr lang="en-US" altLang="en-US" sz="3200" smtClean="0">
                <a:latin typeface="Times New Roman" panose="02020603050405020304" pitchFamily="18" charset="0"/>
                <a:cs typeface="Times New Roman" panose="02020603050405020304" pitchFamily="18" charset="0"/>
              </a:rPr>
              <a:t>ời dùng bằng JavaScript</a:t>
            </a:r>
            <a:endParaRPr lang="en-US" altLang="en-US" sz="3200" smtClean="0">
              <a:latin typeface="Times New Roman" panose="02020603050405020304" pitchFamily="18" charset="0"/>
              <a:cs typeface="Times New Roman" panose="02020603050405020304" pitchFamily="18" charset="0"/>
            </a:endParaRPr>
          </a:p>
          <a:p>
            <a:endParaRPr lang="en-US" altLang="en-US" sz="3200" smtClean="0">
              <a:latin typeface="Times New Roman" panose="02020603050405020304" pitchFamily="18" charset="0"/>
              <a:cs typeface="Times New Roman" panose="02020603050405020304" pitchFamily="18" charset="0"/>
            </a:endParaRPr>
          </a:p>
          <a:p>
            <a:endParaRPr lang="en-US" altLang="en-US" sz="3200" smtClean="0">
              <a:latin typeface="Times New Roman" panose="02020603050405020304" pitchFamily="18" charset="0"/>
              <a:cs typeface="Times New Roman" panose="02020603050405020304" pitchFamily="18" charset="0"/>
            </a:endParaRPr>
          </a:p>
          <a:p>
            <a:pPr algn="l"/>
            <a:r>
              <a:rPr lang="en-US" sz="2800"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Giáo</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viên</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hướng</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dẫn</a:t>
            </a:r>
            <a:r>
              <a:rPr lang="en-US" sz="2800" b="1" smtClean="0">
                <a:latin typeface="Times New Roman" panose="02020603050405020304" pitchFamily="18" charset="0"/>
                <a:cs typeface="Times New Roman" panose="02020603050405020304" pitchFamily="18" charset="0"/>
              </a:rPr>
              <a:t>:</a:t>
            </a:r>
            <a:r>
              <a:rPr lang="en-US" sz="2800"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Sinh</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viên</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thực</a:t>
            </a:r>
            <a:r>
              <a:rPr lang="en-US" sz="2800" b="1" smtClean="0">
                <a:latin typeface="Times New Roman" panose="02020603050405020304" pitchFamily="18" charset="0"/>
                <a:cs typeface="Times New Roman" panose="02020603050405020304" pitchFamily="18" charset="0"/>
              </a:rPr>
              <a:t> </a:t>
            </a:r>
            <a:r>
              <a:rPr lang="en-US" sz="2800" b="1" err="1" smtClean="0">
                <a:latin typeface="Times New Roman" panose="02020603050405020304" pitchFamily="18" charset="0"/>
                <a:cs typeface="Times New Roman" panose="02020603050405020304" pitchFamily="18" charset="0"/>
              </a:rPr>
              <a:t>hiện</a:t>
            </a:r>
            <a:r>
              <a:rPr lang="en-US" sz="2800" b="1" smtClean="0">
                <a:latin typeface="Times New Roman" panose="02020603050405020304" pitchFamily="18" charset="0"/>
                <a:cs typeface="Times New Roman" panose="02020603050405020304" pitchFamily="18" charset="0"/>
              </a:rPr>
              <a:t>:</a:t>
            </a:r>
            <a:r>
              <a:rPr lang="en-US" sz="2800" smtClean="0">
                <a:latin typeface="Times New Roman" panose="02020603050405020304" pitchFamily="18" charset="0"/>
                <a:cs typeface="Times New Roman" panose="02020603050405020304" pitchFamily="18" charset="0"/>
              </a:rPr>
              <a:t>                </a:t>
            </a:r>
            <a:endParaRPr lang="en-US" sz="2800" smtClean="0">
              <a:latin typeface="Times New Roman" panose="02020603050405020304" pitchFamily="18" charset="0"/>
              <a:cs typeface="Times New Roman" panose="02020603050405020304" pitchFamily="18" charset="0"/>
            </a:endParaRPr>
          </a:p>
          <a:p>
            <a:pPr algn="l"/>
            <a:r>
              <a:rPr 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ThS</a:t>
            </a:r>
            <a:r>
              <a:rPr lang="en-US" sz="2800" smtClean="0">
                <a:latin typeface="Times New Roman" panose="02020603050405020304" pitchFamily="18" charset="0"/>
                <a:cs typeface="Times New Roman" panose="02020603050405020304" pitchFamily="18" charset="0"/>
              </a:rPr>
              <a:t>. </a:t>
            </a:r>
            <a:r>
              <a:rPr lang="vi-VN" altLang="en-US" sz="2800" err="1" smtClean="0">
                <a:latin typeface="Times New Roman" panose="02020603050405020304" pitchFamily="18" charset="0"/>
                <a:cs typeface="Times New Roman" panose="02020603050405020304" pitchFamily="18" charset="0"/>
              </a:rPr>
              <a:t>Nguyễn Khắc Quốc</a:t>
            </a:r>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r>
              <a:rPr lang="vi-VN" alt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Họ</a:t>
            </a:r>
            <a:r>
              <a:rPr 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và</a:t>
            </a:r>
            <a:r>
              <a:rPr 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Tên</a:t>
            </a:r>
            <a:r>
              <a:rPr lang="en-US" sz="2800" smtClean="0">
                <a:latin typeface="Times New Roman" panose="02020603050405020304" pitchFamily="18" charset="0"/>
                <a:cs typeface="Times New Roman" panose="02020603050405020304" pitchFamily="18" charset="0"/>
              </a:rPr>
              <a:t>: </a:t>
            </a:r>
            <a:r>
              <a:rPr lang="vi-VN" altLang="en-US" sz="2800" err="1" smtClean="0">
                <a:latin typeface="Times New Roman" panose="02020603050405020304" pitchFamily="18" charset="0"/>
                <a:cs typeface="Times New Roman" panose="02020603050405020304" pitchFamily="18" charset="0"/>
              </a:rPr>
              <a:t>Phan Huỳnh Phúc</a:t>
            </a:r>
            <a:endParaRPr lang="en-US" sz="2800" smtClean="0">
              <a:latin typeface="Times New Roman" panose="02020603050405020304" pitchFamily="18" charset="0"/>
              <a:cs typeface="Times New Roman" panose="02020603050405020304" pitchFamily="18" charset="0"/>
            </a:endParaRPr>
          </a:p>
          <a:p>
            <a:pPr algn="l"/>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MSSV: 11012</a:t>
            </a:r>
            <a:r>
              <a:rPr lang="vi-VN" altLang="en-US" sz="2800" smtClean="0">
                <a:latin typeface="Times New Roman" panose="02020603050405020304" pitchFamily="18" charset="0"/>
                <a:cs typeface="Times New Roman" panose="02020603050405020304" pitchFamily="18" charset="0"/>
              </a:rPr>
              <a:t>31</a:t>
            </a:r>
            <a:r>
              <a:rPr lang="en-US" sz="2800" smtClean="0">
                <a:latin typeface="Times New Roman" panose="02020603050405020304" pitchFamily="18" charset="0"/>
                <a:cs typeface="Times New Roman" panose="02020603050405020304" pitchFamily="18" charset="0"/>
              </a:rPr>
              <a:t>59 </a:t>
            </a:r>
            <a:endParaRPr lang="en-US" sz="2800">
              <a:latin typeface="Times New Roman" panose="02020603050405020304" pitchFamily="18" charset="0"/>
              <a:cs typeface="Times New Roman" panose="02020603050405020304" pitchFamily="18" charset="0"/>
            </a:endParaRPr>
          </a:p>
          <a:p>
            <a:pPr algn="l"/>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r>
              <a:rPr lang="en-US" sz="2800" err="1" smtClean="0">
                <a:latin typeface="Times New Roman" panose="02020603050405020304" pitchFamily="18" charset="0"/>
                <a:cs typeface="Times New Roman" panose="02020603050405020304" pitchFamily="18" charset="0"/>
              </a:rPr>
              <a:t>Lớp</a:t>
            </a:r>
            <a:r>
              <a:rPr lang="en-US" sz="2800" smtClean="0">
                <a:latin typeface="Times New Roman" panose="02020603050405020304" pitchFamily="18" charset="0"/>
                <a:cs typeface="Times New Roman" panose="02020603050405020304" pitchFamily="18" charset="0"/>
              </a:rPr>
              <a:t>: DA2</a:t>
            </a:r>
            <a:r>
              <a:rPr lang="vi-VN" altLang="en-US" sz="2800" smtClean="0">
                <a:latin typeface="Times New Roman" panose="02020603050405020304" pitchFamily="18" charset="0"/>
                <a:cs typeface="Times New Roman" panose="02020603050405020304" pitchFamily="18" charset="0"/>
              </a:rPr>
              <a:t>3</a:t>
            </a:r>
            <a:r>
              <a:rPr lang="en-US" sz="2800" smtClean="0">
                <a:latin typeface="Times New Roman" panose="02020603050405020304" pitchFamily="18" charset="0"/>
                <a:cs typeface="Times New Roman" panose="02020603050405020304" pitchFamily="18" charset="0"/>
              </a:rPr>
              <a:t>TTD</a:t>
            </a:r>
            <a:endParaRPr lang="en-US" sz="2800" smtClean="0">
              <a:latin typeface="Times New Roman" panose="02020603050405020304" pitchFamily="18" charset="0"/>
              <a:cs typeface="Times New Roman" panose="02020603050405020304" pitchFamily="18" charset="0"/>
            </a:endParaRPr>
          </a:p>
          <a:p>
            <a:pPr algn="l"/>
            <a:r>
              <a:rPr lang="en-US" sz="2800">
                <a:latin typeface="Times New Roman" panose="02020603050405020304" pitchFamily="18" charset="0"/>
                <a:cs typeface="Times New Roman" panose="02020603050405020304" pitchFamily="18" charset="0"/>
              </a:rPr>
              <a:t>							</a:t>
            </a:r>
            <a:r>
              <a:rPr lang="en-US" sz="2800" smtClean="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a:p>
            <a:endParaRPr lang="en-US"/>
          </a:p>
        </p:txBody>
      </p:sp>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220635" y="119889"/>
            <a:ext cx="1463040" cy="1445791"/>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760"/>
            <a:ext cx="10513423" cy="5094514"/>
          </a:xfrm>
        </p:spPr>
        <p:txBody>
          <a:bodyPr>
            <a:normAutofit/>
          </a:bodyPr>
          <a:lstStyle/>
          <a:p>
            <a:r>
              <a:rPr lang="en-US" sz="3600" b="1" err="1" smtClean="0">
                <a:cs typeface="Times New Roman" panose="02020603050405020304" pitchFamily="18" charset="0"/>
              </a:rPr>
              <a:t>Các</a:t>
            </a:r>
            <a:r>
              <a:rPr lang="en-US" sz="3600" b="1" smtClean="0">
                <a:cs typeface="Times New Roman" panose="02020603050405020304" pitchFamily="18" charset="0"/>
              </a:rPr>
              <a:t> </a:t>
            </a:r>
            <a:r>
              <a:rPr lang="en-US" sz="3600" b="1" err="1" smtClean="0">
                <a:cs typeface="Times New Roman" panose="02020603050405020304" pitchFamily="18" charset="0"/>
              </a:rPr>
              <a:t>nội</a:t>
            </a:r>
            <a:r>
              <a:rPr lang="en-US" sz="3600" b="1" smtClean="0">
                <a:cs typeface="Times New Roman" panose="02020603050405020304" pitchFamily="18" charset="0"/>
              </a:rPr>
              <a:t> dung </a:t>
            </a:r>
            <a:r>
              <a:rPr lang="en-US" sz="3600" b="1" err="1" smtClean="0">
                <a:cs typeface="Times New Roman" panose="02020603050405020304" pitchFamily="18" charset="0"/>
              </a:rPr>
              <a:t>chính</a:t>
            </a:r>
            <a:r>
              <a:rPr lang="en-US" sz="3600" b="1" smtClean="0">
                <a:cs typeface="Times New Roman" panose="02020603050405020304" pitchFamily="18" charset="0"/>
              </a:rPr>
              <a:t> </a:t>
            </a:r>
            <a:r>
              <a:rPr lang="en-US" sz="3600" b="1" err="1" smtClean="0">
                <a:cs typeface="Times New Roman" panose="02020603050405020304" pitchFamily="18" charset="0"/>
              </a:rPr>
              <a:t>của</a:t>
            </a:r>
            <a:r>
              <a:rPr lang="en-US" sz="3600" b="1" smtClean="0">
                <a:cs typeface="Times New Roman" panose="02020603050405020304" pitchFamily="18" charset="0"/>
              </a:rPr>
              <a:t> </a:t>
            </a:r>
            <a:r>
              <a:rPr lang="en-US" sz="3600" b="1" err="1" smtClean="0">
                <a:cs typeface="Times New Roman" panose="02020603050405020304" pitchFamily="18" charset="0"/>
              </a:rPr>
              <a:t>đề</a:t>
            </a:r>
            <a:r>
              <a:rPr lang="en-US" sz="3600" b="1" smtClean="0">
                <a:cs typeface="Times New Roman" panose="02020603050405020304" pitchFamily="18" charset="0"/>
              </a:rPr>
              <a:t> </a:t>
            </a:r>
            <a:r>
              <a:rPr lang="en-US" sz="3600" b="1" err="1" smtClean="0">
                <a:cs typeface="Times New Roman" panose="02020603050405020304" pitchFamily="18" charset="0"/>
              </a:rPr>
              <a:t>tài</a:t>
            </a:r>
            <a:r>
              <a:rPr lang="en-US" sz="3600" b="1" smtClean="0">
                <a:cs typeface="Times New Roman" panose="02020603050405020304" pitchFamily="18" charset="0"/>
              </a:rPr>
              <a:t>:</a:t>
            </a:r>
            <a:br>
              <a:rPr lang="en-US" smtClean="0">
                <a:cs typeface="Times New Roman" panose="02020603050405020304" pitchFamily="18" charset="0"/>
              </a:rPr>
            </a:br>
            <a:r>
              <a:rPr lang="en-US" smtClean="0">
                <a:cs typeface="Times New Roman" panose="02020603050405020304" pitchFamily="18" charset="0"/>
              </a:rPr>
              <a:t>	</a:t>
            </a:r>
            <a:r>
              <a:rPr lang="en-US" sz="2800" smtClean="0">
                <a:cs typeface="Times New Roman" panose="02020603050405020304" pitchFamily="18" charset="0"/>
              </a:rPr>
              <a:t>1. </a:t>
            </a:r>
            <a:r>
              <a:rPr lang="en-US" sz="2800" err="1" smtClean="0">
                <a:cs typeface="Times New Roman" panose="02020603050405020304" pitchFamily="18" charset="0"/>
              </a:rPr>
              <a:t>Lý</a:t>
            </a:r>
            <a:r>
              <a:rPr lang="en-US" sz="2800" smtClean="0">
                <a:cs typeface="Times New Roman" panose="02020603050405020304" pitchFamily="18" charset="0"/>
              </a:rPr>
              <a:t> do </a:t>
            </a:r>
            <a:r>
              <a:rPr lang="en-US" sz="2800" err="1" smtClean="0">
                <a:cs typeface="Times New Roman" panose="02020603050405020304" pitchFamily="18" charset="0"/>
              </a:rPr>
              <a:t>chọn</a:t>
            </a:r>
            <a:r>
              <a:rPr lang="en-US" sz="2800" smtClean="0">
                <a:cs typeface="Times New Roman" panose="02020603050405020304" pitchFamily="18" charset="0"/>
              </a:rPr>
              <a:t> </a:t>
            </a:r>
            <a:r>
              <a:rPr lang="en-US" sz="2800" err="1" smtClean="0">
                <a:cs typeface="Times New Roman" panose="02020603050405020304" pitchFamily="18" charset="0"/>
              </a:rPr>
              <a:t>đề</a:t>
            </a:r>
            <a:r>
              <a:rPr lang="en-US" sz="2800" smtClean="0">
                <a:cs typeface="Times New Roman" panose="02020603050405020304" pitchFamily="18" charset="0"/>
              </a:rPr>
              <a:t> </a:t>
            </a:r>
            <a:r>
              <a:rPr lang="en-US" sz="2800" err="1" smtClean="0">
                <a:cs typeface="Times New Roman" panose="02020603050405020304" pitchFamily="18" charset="0"/>
              </a:rPr>
              <a:t>tài</a:t>
            </a:r>
            <a:r>
              <a:rPr lang="en-US" sz="2800" smtClean="0">
                <a:cs typeface="Times New Roman" panose="02020603050405020304" pitchFamily="18" charset="0"/>
              </a:rPr>
              <a:t> </a:t>
            </a:r>
            <a:br>
              <a:rPr lang="en-US" sz="2800" smtClean="0">
                <a:cs typeface="Times New Roman" panose="02020603050405020304" pitchFamily="18" charset="0"/>
              </a:rPr>
            </a:br>
            <a:r>
              <a:rPr lang="en-US" sz="2800" smtClean="0">
                <a:cs typeface="Times New Roman" panose="02020603050405020304" pitchFamily="18" charset="0"/>
              </a:rPr>
              <a:t>	2. </a:t>
            </a:r>
            <a:r>
              <a:rPr lang="en-US" sz="2800" err="1" smtClean="0">
                <a:cs typeface="Times New Roman" panose="02020603050405020304" pitchFamily="18" charset="0"/>
              </a:rPr>
              <a:t>Mục</a:t>
            </a:r>
            <a:r>
              <a:rPr lang="en-US" sz="2800" smtClean="0">
                <a:cs typeface="Times New Roman" panose="02020603050405020304" pitchFamily="18" charset="0"/>
              </a:rPr>
              <a:t> </a:t>
            </a:r>
            <a:r>
              <a:rPr lang="en-US" sz="2800" err="1" smtClean="0">
                <a:cs typeface="Times New Roman" panose="02020603050405020304" pitchFamily="18" charset="0"/>
              </a:rPr>
              <a:t>tiêu</a:t>
            </a:r>
            <a:r>
              <a:rPr lang="en-US" sz="2800" smtClean="0">
                <a:cs typeface="Times New Roman" panose="02020603050405020304" pitchFamily="18" charset="0"/>
              </a:rPr>
              <a:t> </a:t>
            </a:r>
            <a:r>
              <a:rPr lang="en-US" sz="2800" err="1" smtClean="0">
                <a:cs typeface="Times New Roman" panose="02020603050405020304" pitchFamily="18" charset="0"/>
              </a:rPr>
              <a:t>nghiên</a:t>
            </a:r>
            <a:r>
              <a:rPr lang="en-US" sz="2800" smtClean="0">
                <a:cs typeface="Times New Roman" panose="02020603050405020304" pitchFamily="18" charset="0"/>
              </a:rPr>
              <a:t> </a:t>
            </a:r>
            <a:r>
              <a:rPr lang="en-US" sz="2800" err="1" smtClean="0">
                <a:cs typeface="Times New Roman" panose="02020603050405020304" pitchFamily="18" charset="0"/>
              </a:rPr>
              <a:t>cứu</a:t>
            </a:r>
            <a:r>
              <a:rPr lang="en-US" sz="2800" smtClean="0">
                <a:cs typeface="Times New Roman" panose="02020603050405020304" pitchFamily="18" charset="0"/>
              </a:rPr>
              <a:t> </a:t>
            </a:r>
            <a:br>
              <a:rPr lang="en-US" sz="2800" smtClean="0">
                <a:cs typeface="Times New Roman" panose="02020603050405020304" pitchFamily="18" charset="0"/>
              </a:rPr>
            </a:br>
            <a:r>
              <a:rPr lang="en-US" sz="2800" smtClean="0">
                <a:cs typeface="Times New Roman" panose="02020603050405020304" pitchFamily="18" charset="0"/>
              </a:rPr>
              <a:t>	3. </a:t>
            </a:r>
            <a:r>
              <a:rPr lang="en-US" sz="2800" err="1" smtClean="0">
                <a:cs typeface="Times New Roman" panose="02020603050405020304" pitchFamily="18" charset="0"/>
              </a:rPr>
              <a:t>Cơ</a:t>
            </a:r>
            <a:r>
              <a:rPr lang="en-US" sz="2800" smtClean="0">
                <a:cs typeface="Times New Roman" panose="02020603050405020304" pitchFamily="18" charset="0"/>
              </a:rPr>
              <a:t> </a:t>
            </a:r>
            <a:r>
              <a:rPr lang="en-US" sz="2800" err="1" smtClean="0">
                <a:cs typeface="Times New Roman" panose="02020603050405020304" pitchFamily="18" charset="0"/>
              </a:rPr>
              <a:t>sở</a:t>
            </a:r>
            <a:r>
              <a:rPr lang="en-US" sz="2800" smtClean="0">
                <a:cs typeface="Times New Roman" panose="02020603050405020304" pitchFamily="18" charset="0"/>
              </a:rPr>
              <a:t> </a:t>
            </a:r>
            <a:r>
              <a:rPr lang="en-US" sz="2800" err="1" smtClean="0">
                <a:cs typeface="Times New Roman" panose="02020603050405020304" pitchFamily="18" charset="0"/>
              </a:rPr>
              <a:t>lý</a:t>
            </a:r>
            <a:r>
              <a:rPr lang="en-US" sz="2800" smtClean="0">
                <a:cs typeface="Times New Roman" panose="02020603050405020304" pitchFamily="18" charset="0"/>
              </a:rPr>
              <a:t> thuyết</a:t>
            </a:r>
            <a:br>
              <a:rPr lang="en-US" sz="2800" smtClean="0">
                <a:cs typeface="Times New Roman" panose="02020603050405020304" pitchFamily="18" charset="0"/>
              </a:rPr>
            </a:br>
            <a:r>
              <a:rPr lang="en-US" sz="2800">
                <a:cs typeface="Times New Roman" panose="02020603050405020304" pitchFamily="18" charset="0"/>
              </a:rPr>
              <a:t>	</a:t>
            </a:r>
            <a:r>
              <a:rPr lang="en-US" sz="2800" smtClean="0">
                <a:cs typeface="Times New Roman" panose="02020603050405020304" pitchFamily="18" charset="0"/>
              </a:rPr>
              <a:t>4. Mô tả bài toán</a:t>
            </a:r>
            <a:br>
              <a:rPr lang="en-US" sz="2800" smtClean="0">
                <a:cs typeface="Times New Roman" panose="02020603050405020304" pitchFamily="18" charset="0"/>
              </a:rPr>
            </a:br>
            <a:r>
              <a:rPr lang="en-US" sz="2800" smtClean="0">
                <a:cs typeface="Times New Roman" panose="02020603050405020304" pitchFamily="18" charset="0"/>
              </a:rPr>
              <a:t>	5. </a:t>
            </a:r>
            <a:r>
              <a:rPr lang="en-US" sz="2800" err="1" smtClean="0">
                <a:cs typeface="Times New Roman" panose="02020603050405020304" pitchFamily="18" charset="0"/>
              </a:rPr>
              <a:t>Cơ</a:t>
            </a:r>
            <a:r>
              <a:rPr lang="en-US" sz="2800" smtClean="0">
                <a:cs typeface="Times New Roman" panose="02020603050405020304" pitchFamily="18" charset="0"/>
              </a:rPr>
              <a:t> </a:t>
            </a:r>
            <a:r>
              <a:rPr lang="en-US" sz="2800" err="1" smtClean="0">
                <a:cs typeface="Times New Roman" panose="02020603050405020304" pitchFamily="18" charset="0"/>
              </a:rPr>
              <a:t>sở</a:t>
            </a:r>
            <a:r>
              <a:rPr lang="en-US" sz="2800" smtClean="0">
                <a:cs typeface="Times New Roman" panose="02020603050405020304" pitchFamily="18" charset="0"/>
              </a:rPr>
              <a:t> </a:t>
            </a:r>
            <a:r>
              <a:rPr lang="en-US" sz="2800" err="1" smtClean="0">
                <a:cs typeface="Times New Roman" panose="02020603050405020304" pitchFamily="18" charset="0"/>
              </a:rPr>
              <a:t>dữ</a:t>
            </a:r>
            <a:r>
              <a:rPr lang="en-US" sz="2800" smtClean="0">
                <a:cs typeface="Times New Roman" panose="02020603050405020304" pitchFamily="18" charset="0"/>
              </a:rPr>
              <a:t> </a:t>
            </a:r>
            <a:r>
              <a:rPr lang="en-US" sz="2800" err="1" smtClean="0">
                <a:cs typeface="Times New Roman" panose="02020603050405020304" pitchFamily="18" charset="0"/>
              </a:rPr>
              <a:t>liệu</a:t>
            </a:r>
            <a:br>
              <a:rPr lang="en-US" sz="2800" smtClean="0">
                <a:cs typeface="Times New Roman" panose="02020603050405020304" pitchFamily="18" charset="0"/>
              </a:rPr>
            </a:br>
            <a:r>
              <a:rPr lang="en-US" sz="2800" smtClean="0">
                <a:cs typeface="Times New Roman" panose="02020603050405020304" pitchFamily="18" charset="0"/>
              </a:rPr>
              <a:t>	6. </a:t>
            </a:r>
            <a:r>
              <a:rPr lang="en-US" sz="2800" err="1" smtClean="0">
                <a:cs typeface="Times New Roman" panose="02020603050405020304" pitchFamily="18" charset="0"/>
              </a:rPr>
              <a:t>Mô</a:t>
            </a:r>
            <a:r>
              <a:rPr lang="en-US" sz="2800" smtClean="0">
                <a:cs typeface="Times New Roman" panose="02020603050405020304" pitchFamily="18" charset="0"/>
              </a:rPr>
              <a:t> hình xử lý</a:t>
            </a:r>
            <a:br>
              <a:rPr lang="en-US" sz="2800" smtClean="0">
                <a:cs typeface="Times New Roman" panose="02020603050405020304" pitchFamily="18" charset="0"/>
              </a:rPr>
            </a:br>
            <a:r>
              <a:rPr lang="en-US" sz="2800" smtClean="0">
                <a:cs typeface="Times New Roman" panose="02020603050405020304" pitchFamily="18" charset="0"/>
              </a:rPr>
              <a:t>	7. </a:t>
            </a:r>
            <a:r>
              <a:rPr lang="en-US" sz="2800" err="1" smtClean="0">
                <a:cs typeface="Times New Roman" panose="02020603050405020304" pitchFamily="18" charset="0"/>
              </a:rPr>
              <a:t>Kết</a:t>
            </a:r>
            <a:r>
              <a:rPr lang="en-US" sz="2800" smtClean="0">
                <a:cs typeface="Times New Roman" panose="02020603050405020304" pitchFamily="18" charset="0"/>
              </a:rPr>
              <a:t> quả đạt được</a:t>
            </a:r>
            <a:br>
              <a:rPr lang="en-US" sz="2800" smtClean="0">
                <a:cs typeface="Times New Roman" panose="02020603050405020304" pitchFamily="18" charset="0"/>
              </a:rPr>
            </a:br>
            <a:r>
              <a:rPr lang="en-US" sz="2800" smtClean="0">
                <a:cs typeface="Times New Roman" panose="02020603050405020304" pitchFamily="18" charset="0"/>
              </a:rPr>
              <a:t>	8. Hạn chế và </a:t>
            </a:r>
            <a:r>
              <a:rPr lang="en-US" sz="2800" err="1" smtClean="0">
                <a:cs typeface="Times New Roman" panose="02020603050405020304" pitchFamily="18" charset="0"/>
              </a:rPr>
              <a:t>hướng</a:t>
            </a:r>
            <a:r>
              <a:rPr lang="en-US" sz="2800" smtClean="0">
                <a:cs typeface="Times New Roman" panose="02020603050405020304" pitchFamily="18" charset="0"/>
              </a:rPr>
              <a:t> </a:t>
            </a:r>
            <a:r>
              <a:rPr lang="en-US" sz="2800" err="1" smtClean="0">
                <a:cs typeface="Times New Roman" panose="02020603050405020304" pitchFamily="18" charset="0"/>
              </a:rPr>
              <a:t>phát</a:t>
            </a:r>
            <a:r>
              <a:rPr lang="en-US" sz="2800" smtClean="0">
                <a:cs typeface="Times New Roman" panose="02020603050405020304" pitchFamily="18" charset="0"/>
              </a:rPr>
              <a:t> </a:t>
            </a:r>
            <a:r>
              <a:rPr lang="en-US" sz="2800" err="1" smtClean="0">
                <a:cs typeface="Times New Roman" panose="02020603050405020304" pitchFamily="18" charset="0"/>
              </a:rPr>
              <a:t>triển</a:t>
            </a:r>
            <a:br>
              <a:rPr lang="en-US" smtClean="0"/>
            </a:br>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3241"/>
          </a:xfrm>
        </p:spPr>
        <p:txBody>
          <a:bodyPr>
            <a:normAutofit/>
          </a:bodyPr>
          <a:lstStyle/>
          <a:p>
            <a:r>
              <a:rPr lang="en-US" sz="3600" b="1" smtClean="0">
                <a:cs typeface="Times New Roman" panose="02020603050405020304" pitchFamily="18" charset="0"/>
              </a:rPr>
              <a:t>1. Lý do chọn đề tài</a:t>
            </a:r>
            <a:br>
              <a:rPr lang="en-US" sz="3600" b="1" smtClean="0"/>
            </a:br>
            <a:br>
              <a:rPr lang="en-US" sz="3100" b="1"/>
            </a:br>
            <a:r>
              <a:rPr lang="en-US" sz="3100" b="1" smtClean="0"/>
              <a:t>	</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Ngày nay, việc học tập ngày càng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ợc chú trọng và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ầu t</a:t>
            </a:r>
            <a:r>
              <a:rPr lang="" altLang="en-US" sz="3100" b="1">
                <a:latin typeface="Calibri Light" panose="020F0302020204030204" pitchFamily="34" charset="0"/>
                <a:ea typeface="Calibri Light" panose="020F0302020204030204" pitchFamily="34" charset="0"/>
                <a:cs typeface="Calibri Light" panose="020F0302020204030204" pitchFamily="34" charset="0"/>
              </a:rPr>
              <a:t>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 Nhu cầu mua sắm các sản phẩm dụng cụ học tập nh</a:t>
            </a:r>
            <a:r>
              <a:rPr lang="" altLang="en-US" sz="3100" b="1">
                <a:latin typeface="Calibri Light" panose="020F0302020204030204" pitchFamily="34" charset="0"/>
                <a:ea typeface="Calibri Light" panose="020F0302020204030204" pitchFamily="34" charset="0"/>
                <a:cs typeface="Calibri Light" panose="020F0302020204030204" pitchFamily="34" charset="0"/>
              </a:rPr>
              <a:t>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 bút viết, vở, sổ tay, balo, máy tính và các vật dụng v</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ă</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n phòng phẩm ngày càng t</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ă</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ng cao. Tuy nhiên, thị tr</a:t>
            </a:r>
            <a:r>
              <a:rPr lang="" altLang="en-US" sz="3100" b="1">
                <a:latin typeface="Calibri Light" panose="020F0302020204030204" pitchFamily="34" charset="0"/>
                <a:ea typeface="Calibri Light" panose="020F0302020204030204" pitchFamily="34" charset="0"/>
                <a:cs typeface="Calibri Light" panose="020F0302020204030204" pitchFamily="34" charset="0"/>
              </a:rPr>
              <a:t>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ờng trực tuyến tại Việt Nam ch</a:t>
            </a:r>
            <a:r>
              <a:rPr lang="" altLang="en-US" sz="3100" b="1">
                <a:latin typeface="Calibri Light" panose="020F0302020204030204" pitchFamily="34" charset="0"/>
                <a:ea typeface="Calibri Light" panose="020F0302020204030204" pitchFamily="34" charset="0"/>
                <a:cs typeface="Calibri Light" panose="020F0302020204030204" pitchFamily="34" charset="0"/>
              </a:rPr>
              <a:t>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a có nhiều nền tảng chuyên biệt cung cấp các sản phẩm này một cách thuận tiện và hiện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ại. Với sự phát triển mạnh mẽ của công nghệ web, việc nghiên cứu và áp dụng HTML5, CSS3, JavaScript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ể xây dựng một website bán dụng cụ học tập là một h</a:t>
            </a:r>
            <a:r>
              <a:rPr lang="" altLang="en-US" sz="3100" b="1">
                <a:latin typeface="Calibri Light" panose="020F0302020204030204" pitchFamily="34" charset="0"/>
                <a:ea typeface="Calibri Light" panose="020F0302020204030204" pitchFamily="34" charset="0"/>
                <a:cs typeface="Calibri Light" panose="020F0302020204030204" pitchFamily="34" charset="0"/>
              </a:rPr>
              <a:t>ư</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ớng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i tiềm n</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ă</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ng nhằm </a:t>
            </a:r>
            <a:r>
              <a:rPr lang="" altLang="en-US" sz="3100" b="1">
                <a:latin typeface="Calibri Light" panose="020F0302020204030204" pitchFamily="34" charset="0"/>
                <a:ea typeface="Calibri Light" panose="020F0302020204030204" pitchFamily="34" charset="0"/>
                <a:cs typeface="Calibri Light" panose="020F0302020204030204" pitchFamily="34" charset="0"/>
              </a:rPr>
              <a:t>đ</a:t>
            </a:r>
            <a:r>
              <a:rPr lang="en-US" altLang="en-US" sz="3100" b="1">
                <a:latin typeface="Calibri Light" panose="020F0302020204030204" pitchFamily="34" charset="0"/>
                <a:ea typeface="Calibri Light" panose="020F0302020204030204" pitchFamily="34" charset="0"/>
                <a:cs typeface="Calibri Light" panose="020F0302020204030204" pitchFamily="34" charset="0"/>
              </a:rPr>
              <a:t>áp ứng nhu cầu thực tế.</a:t>
            </a:r>
            <a:endParaRPr lang="en-US" altLang="en-US" sz="3100" b="1">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3241"/>
          </a:xfrm>
        </p:spPr>
        <p:txBody>
          <a:bodyPr>
            <a:normAutofit fontScale="90000"/>
          </a:bodyPr>
          <a:lstStyle/>
          <a:p>
            <a:r>
              <a:rPr lang="en-US" sz="3600" b="1">
                <a:cs typeface="Times New Roman" panose="02020603050405020304" pitchFamily="18" charset="0"/>
              </a:rPr>
              <a:t>2</a:t>
            </a:r>
            <a:r>
              <a:rPr lang="en-US" sz="3600" b="1" smtClean="0">
                <a:cs typeface="Times New Roman" panose="02020603050405020304" pitchFamily="18" charset="0"/>
              </a:rPr>
              <a:t>. Mục tiêu nghiên cứu</a:t>
            </a:r>
            <a:br>
              <a:rPr lang="en-US" sz="3600" b="1" smtClean="0"/>
            </a:br>
            <a:br>
              <a:rPr lang="en-US" sz="3600" b="1"/>
            </a:br>
            <a:r>
              <a:rPr lang="vi-VN" altLang="en-US" sz="3600" b="1"/>
              <a:t>       </a:t>
            </a:r>
            <a:r>
              <a:rPr lang="en-US" altLang="en-US" sz="3600" b="1"/>
              <a:t>Tìm hiểu cách áp dụng công nghệ HTML5, CSS3, JavaScript vào xây dựng một website th</a:t>
            </a:r>
            <a:r>
              <a:rPr lang="" altLang="en-US" sz="3600" b="1"/>
              <a:t>ư</a:t>
            </a:r>
            <a:r>
              <a:rPr lang="en-US" altLang="en-US" sz="3600" b="1"/>
              <a:t>ơng mại </a:t>
            </a:r>
            <a:r>
              <a:rPr lang="" altLang="en-US" sz="3600" b="1"/>
              <a:t>đ</a:t>
            </a:r>
            <a:r>
              <a:rPr lang="en-US" altLang="en-US" sz="3600" b="1"/>
              <a:t>iện tử. </a:t>
            </a:r>
            <a:r>
              <a:rPr lang="vi-VN" altLang="en-US" sz="3600" b="1"/>
              <a:t>	</a:t>
            </a:r>
            <a:br>
              <a:rPr lang="vi-VN" altLang="en-US" sz="3600" b="1"/>
            </a:br>
            <a:r>
              <a:rPr lang="vi-VN" altLang="en-US" sz="3600" b="1"/>
              <a:t>       </a:t>
            </a:r>
            <a:r>
              <a:rPr lang="en-US" altLang="en-US" sz="3600" b="1"/>
              <a:t>Phát triển một nền tảng mua sắm trực tuyến chuyên biệt dành cho dụng cụ học tập, giúp ng</a:t>
            </a:r>
            <a:r>
              <a:rPr lang="" altLang="en-US" sz="3600" b="1"/>
              <a:t>ư</a:t>
            </a:r>
            <a:r>
              <a:rPr lang="en-US" altLang="en-US" sz="3600" b="1"/>
              <a:t>ời dùng dễ dàng tìm kiếm, lựa chọn và mua sắm các sản phẩm phù hợp.</a:t>
            </a:r>
            <a:r>
              <a:rPr lang="vi-VN" altLang="en-US" sz="3600" b="1"/>
              <a:t>	</a:t>
            </a:r>
            <a:br>
              <a:rPr lang="vi-VN" altLang="en-US" sz="3600" b="1"/>
            </a:br>
            <a:r>
              <a:rPr lang="vi-VN" altLang="en-US" sz="3600" b="1"/>
              <a:t>       </a:t>
            </a:r>
            <a:r>
              <a:rPr lang="en-US" altLang="en-US" sz="3600" b="1"/>
              <a:t>Cải thiện trải nghiệm ng</a:t>
            </a:r>
            <a:r>
              <a:rPr lang="" altLang="en-US" sz="3600" b="1"/>
              <a:t>ư</a:t>
            </a:r>
            <a:r>
              <a:rPr lang="en-US" altLang="en-US" sz="3600" b="1"/>
              <a:t>ời dùng thông qua giao diện thân thiện, tính n</a:t>
            </a:r>
            <a:r>
              <a:rPr lang="" altLang="en-US" sz="3600" b="1"/>
              <a:t>ă</a:t>
            </a:r>
            <a:r>
              <a:rPr lang="en-US" altLang="en-US" sz="3600" b="1"/>
              <a:t>ng tìm kiếm nhanh, và thiết kế responsive.</a:t>
            </a:r>
            <a:br>
              <a:rPr lang="en-US" altLang="en-US" sz="3600" b="1"/>
            </a:br>
            <a:endParaRPr lang="en-US" altLang="en-US" sz="3600" b="1"/>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92965"/>
          </a:xfrm>
        </p:spPr>
        <p:txBody>
          <a:bodyPr>
            <a:normAutofit/>
          </a:bodyPr>
          <a:lstStyle/>
          <a:p>
            <a:r>
              <a:rPr lang="en-US" sz="3600" b="1" smtClean="0">
                <a:cs typeface="Times New Roman" panose="02020603050405020304" pitchFamily="18" charset="0"/>
              </a:rPr>
              <a:t>3. Cơ sở lý thuyết</a:t>
            </a:r>
            <a:endParaRPr lang="en-US" sz="3600" b="1"/>
          </a:p>
        </p:txBody>
      </p:sp>
      <p:sp>
        <p:nvSpPr>
          <p:cNvPr id="5" name="Title 1"/>
          <p:cNvSpPr txBox="1"/>
          <p:nvPr/>
        </p:nvSpPr>
        <p:spPr>
          <a:xfrm>
            <a:off x="1061085" y="888274"/>
            <a:ext cx="10515600" cy="576072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US" sz="3600" b="1"/>
          </a:p>
        </p:txBody>
      </p:sp>
      <p:pic>
        <p:nvPicPr>
          <p:cNvPr id="2052" name="Picture 4" descr="Html Css and Javascrip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15290" y="1250950"/>
            <a:ext cx="4526280" cy="2440305"/>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Ngôn ngữ lập trình 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540" y="1250950"/>
            <a:ext cx="3962400" cy="24403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p:cNvPicPr>
            <a:picLocks noChangeAspect="1"/>
          </p:cNvPicPr>
          <p:nvPr/>
        </p:nvPicPr>
        <p:blipFill>
          <a:blip r:embed="rId3">
            <a:extLst>
              <a:ext uri="{28A0092B-C50C-407E-A947-70E740481C1C}">
                <a14:useLocalDpi xmlns:a14="http://schemas.microsoft.com/office/drawing/2010/main" val="0"/>
              </a:ext>
            </a:extLst>
          </a:blip>
          <a:srcRect t="7720" b="25237"/>
          <a:stretch>
            <a:fillRect/>
          </a:stretch>
        </p:blipFill>
        <p:spPr>
          <a:xfrm>
            <a:off x="6733540" y="4191000"/>
            <a:ext cx="5259705" cy="2458085"/>
          </a:xfrm>
          <a:prstGeom prst="rect">
            <a:avLst/>
          </a:prstGeom>
        </p:spPr>
      </p:pic>
      <p:pic>
        <p:nvPicPr>
          <p:cNvPr id="3" name="Picture 2" descr="lcst"/>
          <p:cNvPicPr>
            <a:picLocks noChangeAspect="1"/>
          </p:cNvPicPr>
          <p:nvPr/>
        </p:nvPicPr>
        <p:blipFill>
          <a:blip r:embed="rId4"/>
          <a:srcRect l="30177" b="1667"/>
          <a:stretch>
            <a:fillRect/>
          </a:stretch>
        </p:blipFill>
        <p:spPr>
          <a:xfrm>
            <a:off x="861060" y="4191000"/>
            <a:ext cx="3665855" cy="247840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3241"/>
          </a:xfrm>
        </p:spPr>
        <p:txBody>
          <a:bodyPr>
            <a:normAutofit fontScale="90000"/>
          </a:bodyPr>
          <a:lstStyle/>
          <a:p>
            <a:r>
              <a:rPr lang="en-US" sz="4000" b="1" smtClean="0">
                <a:cs typeface="Times New Roman" panose="02020603050405020304" pitchFamily="18" charset="0"/>
              </a:rPr>
              <a:t>4. Mô tả bài toán</a:t>
            </a:r>
            <a:br>
              <a:rPr lang="en-US" sz="3600" b="1" smtClean="0"/>
            </a:br>
            <a:br>
              <a:rPr lang="en-US" sz="3600" b="1"/>
            </a:br>
            <a:r>
              <a:rPr lang="en-US" sz="3600" b="1" smtClean="0"/>
              <a:t>	</a:t>
            </a:r>
            <a:r>
              <a:rPr lang="vi-VN" sz="3100" smtClean="0">
                <a:latin typeface="Calibri Light" panose="020F0302020204030204" pitchFamily="34" charset="0"/>
                <a:ea typeface="Calibri Light" panose="020F0302020204030204" pitchFamily="34" charset="0"/>
                <a:cs typeface="Calibri Light" panose="020F0302020204030204" pitchFamily="34" charset="0"/>
              </a:rPr>
              <a:t>Bài </a:t>
            </a:r>
            <a:r>
              <a:rPr lang="vi-VN" sz="3100">
                <a:latin typeface="Calibri Light" panose="020F0302020204030204" pitchFamily="34" charset="0"/>
                <a:ea typeface="Calibri Light" panose="020F0302020204030204" pitchFamily="34" charset="0"/>
                <a:cs typeface="Calibri Light" panose="020F0302020204030204" pitchFamily="34" charset="0"/>
              </a:rPr>
              <a:t>toán xây dựng website bán dụng cụ học </a:t>
            </a:r>
            <a:r>
              <a:rPr lang="vi-VN" sz="3100">
                <a:latin typeface="Calibri Light" panose="020F0302020204030204" pitchFamily="34" charset="0"/>
                <a:ea typeface="Calibri Light" panose="020F0302020204030204" pitchFamily="34" charset="0"/>
                <a:cs typeface="Calibri Light" panose="020F0302020204030204" pitchFamily="34" charset="0"/>
              </a:rPr>
              <a:t>tập được thực hiện nhằm tự động hóa quy trình kinh doanh của các doanh nghiệp, giảm thiểu thời gian, chi phí và nâng cao hiệu suất.</a:t>
            </a:r>
            <a:br>
              <a:rPr lang="vi-VN" sz="3100">
                <a:latin typeface="Calibri Light" panose="020F0302020204030204" pitchFamily="34" charset="0"/>
                <a:ea typeface="Calibri Light" panose="020F0302020204030204" pitchFamily="34" charset="0"/>
                <a:cs typeface="Calibri Light" panose="020F0302020204030204" pitchFamily="34" charset="0"/>
              </a:rPr>
            </a:br>
            <a:br>
              <a:rPr lang="vi-VN" sz="3100">
                <a:latin typeface="Calibri Light" panose="020F0302020204030204" pitchFamily="34" charset="0"/>
                <a:ea typeface="Calibri Light" panose="020F0302020204030204" pitchFamily="34" charset="0"/>
                <a:cs typeface="Calibri Light" panose="020F0302020204030204" pitchFamily="34" charset="0"/>
              </a:rPr>
            </a:br>
            <a:r>
              <a:rPr lang="vi-VN" sz="3100" smtClean="0">
                <a:latin typeface="Calibri Light" panose="020F0302020204030204" pitchFamily="34" charset="0"/>
                <a:ea typeface="Calibri Light" panose="020F0302020204030204" pitchFamily="34" charset="0"/>
                <a:cs typeface="Calibri Light" panose="020F0302020204030204" pitchFamily="34" charset="0"/>
              </a:rPr>
              <a:t>Hệ  </a:t>
            </a:r>
            <a:r>
              <a:rPr lang="vi-VN" sz="3100">
                <a:latin typeface="Calibri Light" panose="020F0302020204030204" pitchFamily="34" charset="0"/>
                <a:ea typeface="Calibri Light" panose="020F0302020204030204" pitchFamily="34" charset="0"/>
                <a:cs typeface="Calibri Light" panose="020F0302020204030204" pitchFamily="34" charset="0"/>
              </a:rPr>
              <a:t>thống sẽ có các yêu cầu cơ bản:</a:t>
            </a:r>
            <a:br>
              <a:rPr lang="vi-VN" sz="3100">
                <a:latin typeface="Calibri Light" panose="020F0302020204030204" pitchFamily="34" charset="0"/>
                <a:ea typeface="Calibri Light" panose="020F0302020204030204" pitchFamily="34" charset="0"/>
                <a:cs typeface="Calibri Light" panose="020F0302020204030204" pitchFamily="34" charset="0"/>
              </a:rPr>
            </a:br>
            <a:r>
              <a:rPr lang="en-US" sz="3100" smtClean="0">
                <a:latin typeface="Calibri Light" panose="020F0302020204030204" pitchFamily="34" charset="0"/>
                <a:ea typeface="Calibri Light" panose="020F0302020204030204" pitchFamily="34" charset="0"/>
                <a:cs typeface="Calibri Light" panose="020F0302020204030204" pitchFamily="34" charset="0"/>
              </a:rPr>
              <a:t>- </a:t>
            </a:r>
            <a:r>
              <a:rPr lang="vi-VN" sz="3100" smtClean="0">
                <a:latin typeface="Calibri Light" panose="020F0302020204030204" pitchFamily="34" charset="0"/>
                <a:ea typeface="Calibri Light" panose="020F0302020204030204" pitchFamily="34" charset="0"/>
                <a:cs typeface="Calibri Light" panose="020F0302020204030204" pitchFamily="34" charset="0"/>
              </a:rPr>
              <a:t>Quản </a:t>
            </a:r>
            <a:r>
              <a:rPr lang="vi-VN" sz="3100">
                <a:latin typeface="Calibri Light" panose="020F0302020204030204" pitchFamily="34" charset="0"/>
                <a:ea typeface="Calibri Light" panose="020F0302020204030204" pitchFamily="34" charset="0"/>
                <a:cs typeface="Calibri Light" panose="020F0302020204030204" pitchFamily="34" charset="0"/>
              </a:rPr>
              <a:t>lý sản phẩm: bao gồm tên sản phẩm, danh mục sản phẩm, giá cả, mô tả, chi tiết sản phẩm, hình ảnh sản phẩm,…</a:t>
            </a:r>
            <a:br>
              <a:rPr lang="vi-VN" sz="3100">
                <a:latin typeface="Calibri Light" panose="020F0302020204030204" pitchFamily="34" charset="0"/>
                <a:ea typeface="Calibri Light" panose="020F0302020204030204" pitchFamily="34" charset="0"/>
                <a:cs typeface="Calibri Light" panose="020F0302020204030204" pitchFamily="34" charset="0"/>
              </a:rPr>
            </a:br>
            <a:r>
              <a:rPr lang="en-US" sz="3100" smtClean="0">
                <a:latin typeface="Calibri Light" panose="020F0302020204030204" pitchFamily="34" charset="0"/>
                <a:ea typeface="Calibri Light" panose="020F0302020204030204" pitchFamily="34" charset="0"/>
                <a:cs typeface="Calibri Light" panose="020F0302020204030204" pitchFamily="34" charset="0"/>
              </a:rPr>
              <a:t>- </a:t>
            </a:r>
            <a:r>
              <a:rPr lang="vi-VN" sz="3100" smtClean="0">
                <a:latin typeface="Calibri Light" panose="020F0302020204030204" pitchFamily="34" charset="0"/>
                <a:ea typeface="Calibri Light" panose="020F0302020204030204" pitchFamily="34" charset="0"/>
                <a:cs typeface="Calibri Light" panose="020F0302020204030204" pitchFamily="34" charset="0"/>
              </a:rPr>
              <a:t>Quản </a:t>
            </a:r>
            <a:r>
              <a:rPr lang="vi-VN" sz="3100">
                <a:latin typeface="Calibri Light" panose="020F0302020204030204" pitchFamily="34" charset="0"/>
                <a:ea typeface="Calibri Light" panose="020F0302020204030204" pitchFamily="34" charset="0"/>
                <a:cs typeface="Calibri Light" panose="020F0302020204030204" pitchFamily="34" charset="0"/>
              </a:rPr>
              <a:t>lý đơn hàng: bao gồm thông tin sản phẩm mà khách hàng đã đặt, lịch sử đặt hàng,….</a:t>
            </a:r>
            <a:br>
              <a:rPr lang="vi-VN" sz="3100">
                <a:latin typeface="Calibri Light" panose="020F0302020204030204" pitchFamily="34" charset="0"/>
                <a:ea typeface="Calibri Light" panose="020F0302020204030204" pitchFamily="34" charset="0"/>
                <a:cs typeface="Calibri Light" panose="020F0302020204030204" pitchFamily="34" charset="0"/>
              </a:rPr>
            </a:br>
            <a:r>
              <a:rPr lang="en-US" sz="3100" smtClean="0">
                <a:latin typeface="Calibri Light" panose="020F0302020204030204" pitchFamily="34" charset="0"/>
                <a:ea typeface="Calibri Light" panose="020F0302020204030204" pitchFamily="34" charset="0"/>
                <a:cs typeface="Calibri Light" panose="020F0302020204030204" pitchFamily="34" charset="0"/>
              </a:rPr>
              <a:t>- </a:t>
            </a:r>
            <a:r>
              <a:rPr lang="vi-VN" sz="3100" smtClean="0">
                <a:latin typeface="Calibri Light" panose="020F0302020204030204" pitchFamily="34" charset="0"/>
                <a:ea typeface="Calibri Light" panose="020F0302020204030204" pitchFamily="34" charset="0"/>
                <a:cs typeface="Calibri Light" panose="020F0302020204030204" pitchFamily="34" charset="0"/>
              </a:rPr>
              <a:t>Quản </a:t>
            </a:r>
            <a:r>
              <a:rPr lang="vi-VN" sz="3100">
                <a:latin typeface="Calibri Light" panose="020F0302020204030204" pitchFamily="34" charset="0"/>
                <a:ea typeface="Calibri Light" panose="020F0302020204030204" pitchFamily="34" charset="0"/>
                <a:cs typeface="Calibri Light" panose="020F0302020204030204" pitchFamily="34" charset="0"/>
              </a:rPr>
              <a:t>lý tài khoản: thông tin khách hàng đã đăng ký , các quyền truy cập,…</a:t>
            </a:r>
            <a:br>
              <a:rPr lang="vi-VN" sz="3100">
                <a:latin typeface="Calibri Light" panose="020F0302020204030204" pitchFamily="34" charset="0"/>
                <a:ea typeface="Calibri Light" panose="020F0302020204030204" pitchFamily="34" charset="0"/>
                <a:cs typeface="Calibri Light" panose="020F0302020204030204" pitchFamily="34" charset="0"/>
              </a:rPr>
            </a:br>
            <a:r>
              <a:rPr lang="en-US" sz="3100" smtClean="0">
                <a:latin typeface="Calibri Light" panose="020F0302020204030204" pitchFamily="34" charset="0"/>
                <a:ea typeface="Calibri Light" panose="020F0302020204030204" pitchFamily="34" charset="0"/>
                <a:cs typeface="Calibri Light" panose="020F0302020204030204" pitchFamily="34" charset="0"/>
              </a:rPr>
              <a:t>- </a:t>
            </a:r>
            <a:r>
              <a:rPr lang="vi-VN" sz="3100" smtClean="0">
                <a:latin typeface="Calibri Light" panose="020F0302020204030204" pitchFamily="34" charset="0"/>
                <a:ea typeface="Calibri Light" panose="020F0302020204030204" pitchFamily="34" charset="0"/>
                <a:cs typeface="Calibri Light" panose="020F0302020204030204" pitchFamily="34" charset="0"/>
              </a:rPr>
              <a:t>Quản </a:t>
            </a:r>
            <a:r>
              <a:rPr lang="vi-VN" sz="3100">
                <a:latin typeface="Calibri Light" panose="020F0302020204030204" pitchFamily="34" charset="0"/>
                <a:ea typeface="Calibri Light" panose="020F0302020204030204" pitchFamily="34" charset="0"/>
                <a:cs typeface="Calibri Light" panose="020F0302020204030204" pitchFamily="34" charset="0"/>
              </a:rPr>
              <a:t>lý doanh thu.</a:t>
            </a:r>
            <a:br>
              <a:rPr lang="vi-VN" sz="3100">
                <a:latin typeface="Calibri Light" panose="020F0302020204030204" pitchFamily="34" charset="0"/>
                <a:ea typeface="Calibri Light" panose="020F0302020204030204" pitchFamily="34" charset="0"/>
                <a:cs typeface="Calibri Light" panose="020F0302020204030204" pitchFamily="34" charset="0"/>
              </a:rPr>
            </a:br>
            <a:br>
              <a:rPr lang="vi-VN" sz="2800"/>
            </a:br>
            <a:endParaRPr lang="en-US" sz="3600" b="1"/>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852795"/>
          </a:xfrm>
        </p:spPr>
        <p:txBody>
          <a:bodyPr>
            <a:normAutofit fontScale="90000"/>
          </a:bodyPr>
          <a:lstStyle/>
          <a:p>
            <a:r>
              <a:rPr lang="en-US" sz="3600" b="1" smtClean="0">
                <a:cs typeface="Times New Roman" panose="02020603050405020304" pitchFamily="18" charset="0"/>
              </a:rPr>
              <a:t>4. Mô tả bài toán</a:t>
            </a:r>
            <a:br>
              <a:rPr lang="en-US" sz="3600" b="1" smtClean="0"/>
            </a:br>
            <a:br>
              <a:rPr lang="en-US" sz="3600" b="1"/>
            </a:br>
            <a:r>
              <a:rPr lang="vi-VN" sz="2800" b="1" smtClean="0">
                <a:latin typeface="Calibri Light" panose="020F0302020204030204" pitchFamily="34" charset="0"/>
                <a:ea typeface="Calibri Light" panose="020F0302020204030204" pitchFamily="34" charset="0"/>
                <a:cs typeface="Calibri Light" panose="020F0302020204030204" pitchFamily="34" charset="0"/>
              </a:rPr>
              <a:t>Website </a:t>
            </a:r>
            <a:r>
              <a:rPr lang="vi-VN" sz="2800" b="1">
                <a:latin typeface="Calibri Light" panose="020F0302020204030204" pitchFamily="34" charset="0"/>
                <a:ea typeface="Calibri Light" panose="020F0302020204030204" pitchFamily="34" charset="0"/>
                <a:cs typeface="Calibri Light" panose="020F0302020204030204" pitchFamily="34" charset="0"/>
              </a:rPr>
              <a:t>cho phép người dùng:</a:t>
            </a:r>
            <a:br>
              <a:rPr lang="vi-VN" sz="2800" b="1">
                <a:latin typeface="Calibri Light" panose="020F0302020204030204" pitchFamily="34" charset="0"/>
                <a:ea typeface="Calibri Light" panose="020F0302020204030204" pitchFamily="34" charset="0"/>
                <a:cs typeface="Calibri Light" panose="020F0302020204030204" pitchFamily="34" charset="0"/>
              </a:rPr>
            </a:b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Đăng </a:t>
            </a:r>
            <a:r>
              <a:rPr lang="vi-VN" sz="2800">
                <a:latin typeface="Calibri Light" panose="020F0302020204030204" pitchFamily="34" charset="0"/>
                <a:ea typeface="Calibri Light" panose="020F0302020204030204" pitchFamily="34" charset="0"/>
                <a:cs typeface="Calibri Light" panose="020F0302020204030204" pitchFamily="34" charset="0"/>
              </a:rPr>
              <a:t>ký và đăng nhập vào hệ thống.</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các sản phẩm có trong danh mục bao gồm các thông tin như: tên sản phẩm, mô tả sản phẩm, số lượng, hình ảnh, giá cả,…</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Tìm </a:t>
            </a:r>
            <a:r>
              <a:rPr lang="vi-VN" sz="2800">
                <a:latin typeface="Calibri Light" panose="020F0302020204030204" pitchFamily="34" charset="0"/>
                <a:ea typeface="Calibri Light" panose="020F0302020204030204" pitchFamily="34" charset="0"/>
                <a:cs typeface="Calibri Light" panose="020F0302020204030204" pitchFamily="34" charset="0"/>
              </a:rPr>
              <a:t>kiếm sản phẩm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theo</a:t>
            </a:r>
            <a:r>
              <a:rPr lang="en-US" sz="2800" smtClean="0">
                <a:latin typeface="Calibri Light" panose="020F0302020204030204" pitchFamily="34" charset="0"/>
                <a:ea typeface="Calibri Light" panose="020F0302020204030204" pitchFamily="34" charset="0"/>
                <a:cs typeface="Calibri Light" panose="020F0302020204030204" pitchFamily="34" charset="0"/>
              </a:rPr>
              <a:t> tên,</a:t>
            </a:r>
            <a:r>
              <a:rPr lang="vi-VN"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a:latin typeface="Calibri Light" panose="020F0302020204030204" pitchFamily="34" charset="0"/>
                <a:ea typeface="Calibri Light" panose="020F0302020204030204" pitchFamily="34" charset="0"/>
                <a:cs typeface="Calibri Light" panose="020F0302020204030204" pitchFamily="34" charset="0"/>
              </a:rPr>
              <a:t>danh mục hoặc giá.</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Thêm </a:t>
            </a:r>
            <a:r>
              <a:rPr lang="vi-VN" sz="2800">
                <a:latin typeface="Calibri Light" panose="020F0302020204030204" pitchFamily="34" charset="0"/>
                <a:ea typeface="Calibri Light" panose="020F0302020204030204" pitchFamily="34" charset="0"/>
                <a:cs typeface="Calibri Light" panose="020F0302020204030204" pitchFamily="34" charset="0"/>
              </a:rPr>
              <a:t>các sản vào danh sách yêu thích và giỏ hàng, có thể tùy chỉnh số lượng theo nhu cầu của người mua.</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Đặt </a:t>
            </a:r>
            <a:r>
              <a:rPr lang="vi-VN" sz="2800">
                <a:latin typeface="Calibri Light" panose="020F0302020204030204" pitchFamily="34" charset="0"/>
                <a:ea typeface="Calibri Light" panose="020F0302020204030204" pitchFamily="34" charset="0"/>
                <a:cs typeface="Calibri Light" panose="020F0302020204030204" pitchFamily="34" charset="0"/>
              </a:rPr>
              <a:t>hàng các sản phẩm đã thêm vào giỏ hàng.</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Người </a:t>
            </a:r>
            <a:r>
              <a:rPr lang="vi-VN" sz="2800">
                <a:latin typeface="Calibri Light" panose="020F0302020204030204" pitchFamily="34" charset="0"/>
                <a:ea typeface="Calibri Light" panose="020F0302020204030204" pitchFamily="34" charset="0"/>
                <a:cs typeface="Calibri Light" panose="020F0302020204030204" pitchFamily="34" charset="0"/>
              </a:rPr>
              <a:t>dùng có thể xem trang giới thiệu, trang tin tức, khuyến mãi và liên h với người quản trị bằng các phương thức khác nhau.</a:t>
            </a:r>
            <a:br>
              <a:rPr lang="vi-VN" sz="2800">
                <a:latin typeface="Calibri Light" panose="020F0302020204030204" pitchFamily="34" charset="0"/>
                <a:ea typeface="Calibri Light" panose="020F0302020204030204" pitchFamily="34" charset="0"/>
                <a:cs typeface="Calibri Light" panose="020F0302020204030204" pitchFamily="34" charset="0"/>
              </a:rPr>
            </a:br>
            <a:br>
              <a:rPr lang="vi-VN" sz="2800"/>
            </a:br>
            <a:endParaRPr lang="en-US" sz="3600" b="1"/>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25331"/>
          </a:xfrm>
        </p:spPr>
        <p:txBody>
          <a:bodyPr>
            <a:normAutofit fontScale="90000"/>
          </a:bodyPr>
          <a:lstStyle/>
          <a:p>
            <a:r>
              <a:rPr lang="en-US" sz="3600" b="1" smtClean="0">
                <a:cs typeface="Times New Roman" panose="02020603050405020304" pitchFamily="18" charset="0"/>
              </a:rPr>
              <a:t>4. Mô tả bài toán</a:t>
            </a:r>
            <a:br>
              <a:rPr lang="en-US" sz="3600" b="1" smtClean="0"/>
            </a:br>
            <a:br>
              <a:rPr lang="en-US" sz="3600" b="1"/>
            </a:br>
            <a:r>
              <a:rPr lang="vi-VN" sz="2800" b="1">
                <a:latin typeface="Calibri Light" panose="020F0302020204030204" pitchFamily="34" charset="0"/>
                <a:ea typeface="Calibri Light" panose="020F0302020204030204" pitchFamily="34" charset="0"/>
                <a:cs typeface="Calibri Light" panose="020F0302020204030204" pitchFamily="34" charset="0"/>
              </a:rPr>
              <a:t>Website cho phép người quản trị:</a:t>
            </a:r>
            <a:br>
              <a:rPr lang="vi-VN" sz="2800" b="1">
                <a:latin typeface="Calibri Light" panose="020F0302020204030204" pitchFamily="34" charset="0"/>
                <a:ea typeface="Calibri Light" panose="020F0302020204030204" pitchFamily="34" charset="0"/>
                <a:cs typeface="Calibri Light" panose="020F0302020204030204" pitchFamily="34" charset="0"/>
              </a:rPr>
            </a:b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Tương </a:t>
            </a:r>
            <a:r>
              <a:rPr lang="vi-VN" sz="2800">
                <a:latin typeface="Calibri Light" panose="020F0302020204030204" pitchFamily="34" charset="0"/>
                <a:ea typeface="Calibri Light" panose="020F0302020204030204" pitchFamily="34" charset="0"/>
                <a:cs typeface="Calibri Light" panose="020F0302020204030204" pitchFamily="34" charset="0"/>
              </a:rPr>
              <a:t>tác với danh mục, bài viết, tin tức: xem, thêm, xóa, sửa thông tin danh mục như: tên danh mục, mô tả, hình,..</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Tư</a:t>
            </a:r>
            <a:r>
              <a:rPr lang="en-US" sz="2800" smtClean="0">
                <a:latin typeface="Calibri Light" panose="020F0302020204030204" pitchFamily="34" charset="0"/>
                <a:ea typeface="Calibri Light" panose="020F0302020204030204" pitchFamily="34" charset="0"/>
                <a:cs typeface="Calibri Light" panose="020F0302020204030204" pitchFamily="34" charset="0"/>
              </a:rPr>
              <a:t>ơng</a:t>
            </a:r>
            <a:r>
              <a:rPr lang="vi-VN"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a:latin typeface="Calibri Light" panose="020F0302020204030204" pitchFamily="34" charset="0"/>
                <a:ea typeface="Calibri Light" panose="020F0302020204030204" pitchFamily="34" charset="0"/>
                <a:cs typeface="Calibri Light" panose="020F0302020204030204" pitchFamily="34" charset="0"/>
              </a:rPr>
              <a:t>tác với sản phẩm: xem, thêm, xóa, sửa thông tin sản phẩm như: tên sản phẩm, hình ảnh, mã sản phẩm, alias, mô tả, chi tiết sản phẩm, giá cả.</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đơn hàng và cập nhật đơn hàng.</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Quản </a:t>
            </a:r>
            <a:r>
              <a:rPr lang="vi-VN" sz="2800">
                <a:latin typeface="Calibri Light" panose="020F0302020204030204" pitchFamily="34" charset="0"/>
                <a:ea typeface="Calibri Light" panose="020F0302020204030204" pitchFamily="34" charset="0"/>
                <a:cs typeface="Calibri Light" panose="020F0302020204030204" pitchFamily="34" charset="0"/>
              </a:rPr>
              <a:t>lý thông tin khách hàng.</a:t>
            </a:r>
            <a:br>
              <a:rPr lang="vi-VN" sz="2800">
                <a:latin typeface="Calibri Light" panose="020F0302020204030204" pitchFamily="34" charset="0"/>
                <a:ea typeface="Calibri Light" panose="020F0302020204030204" pitchFamily="34" charset="0"/>
                <a:cs typeface="Calibri Light" panose="020F0302020204030204" pitchFamily="34" charset="0"/>
              </a:rPr>
            </a:br>
            <a:br>
              <a:rPr lang="vi-VN" sz="2800"/>
            </a:br>
            <a:endParaRPr lang="en-US" sz="3600" b="1"/>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954223"/>
          </a:xfrm>
        </p:spPr>
        <p:txBody>
          <a:bodyPr>
            <a:normAutofit fontScale="90000"/>
          </a:bodyPr>
          <a:lstStyle/>
          <a:p>
            <a:r>
              <a:rPr lang="en-US" b="1" smtClean="0">
                <a:cs typeface="Times New Roman" panose="02020603050405020304" pitchFamily="18" charset="0"/>
              </a:rPr>
              <a:t>5.  Cơ sở dữ liệu</a:t>
            </a:r>
            <a:br>
              <a:rPr lang="en-US" sz="3600" b="1" smtClean="0">
                <a:cs typeface="Times New Roman" panose="02020603050405020304" pitchFamily="18" charset="0"/>
              </a:rPr>
            </a:br>
            <a:br>
              <a:rPr lang="en-US" sz="3600" b="1" smtClean="0"/>
            </a:br>
            <a:r>
              <a:rPr lang="vi-VN" altLang="en-US" sz="3600" b="1" smtClean="0"/>
              <a:t> </a:t>
            </a:r>
            <a:r>
              <a:rPr lang="en-US" sz="3600" smtClean="0"/>
              <a:t>Mô hình dữ liệu </a:t>
            </a:r>
            <a:br>
              <a:rPr lang="en-US" sz="3600" smtClean="0"/>
            </a:br>
            <a:r>
              <a:rPr lang="en-US" sz="3600" smtClean="0"/>
              <a:t>ở</a:t>
            </a:r>
            <a:r>
              <a:rPr lang="vi-VN" altLang="en-US" sz="3600" smtClean="0"/>
              <a:t> </a:t>
            </a:r>
            <a:r>
              <a:rPr lang="en-US" sz="3600" smtClean="0"/>
              <a:t>mức quan niệm</a:t>
            </a:r>
            <a:endParaRPr lang="en-US" sz="3600" b="1" smtClean="0"/>
          </a:p>
        </p:txBody>
      </p:sp>
      <p:pic>
        <p:nvPicPr>
          <p:cNvPr id="1688916243" name="Hình ảnh 1" descr="Ảnh có chứa văn bản, biểu đồ, Kế hoạch, hàng&#10;&#10;Nội dung do AI tạo ra có thể không chính xác."/>
          <p:cNvPicPr>
            <a:picLocks noChangeAspect="1"/>
          </p:cNvPicPr>
          <p:nvPr/>
        </p:nvPicPr>
        <p:blipFill>
          <a:blip r:embed="rId1"/>
          <a:stretch>
            <a:fillRect/>
          </a:stretch>
        </p:blipFill>
        <p:spPr>
          <a:xfrm>
            <a:off x="5003165" y="0"/>
            <a:ext cx="7641590" cy="680212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954223"/>
          </a:xfrm>
        </p:spPr>
        <p:txBody>
          <a:bodyPr>
            <a:normAutofit fontScale="90000"/>
          </a:bodyPr>
          <a:lstStyle/>
          <a:p>
            <a:r>
              <a:rPr lang="en-US" sz="4000" b="1" smtClean="0">
                <a:cs typeface="Times New Roman" panose="02020603050405020304" pitchFamily="18" charset="0"/>
              </a:rPr>
              <a:t>5. </a:t>
            </a:r>
            <a:r>
              <a:rPr lang="en-US" sz="4000" smtClean="0">
                <a:cs typeface="Times New Roman" panose="02020603050405020304" pitchFamily="18" charset="0"/>
              </a:rPr>
              <a:t> </a:t>
            </a:r>
            <a:r>
              <a:rPr lang="vi-VN" altLang="en-US" sz="4000" smtClean="0">
                <a:cs typeface="Times New Roman" panose="02020603050405020304" pitchFamily="18" charset="0"/>
              </a:rPr>
              <a:t>Cơ sở dữ liệu</a:t>
            </a:r>
            <a:br>
              <a:rPr lang="en-US" b="1" smtClean="0">
                <a:cs typeface="Times New Roman" panose="02020603050405020304" pitchFamily="18" charset="0"/>
              </a:rPr>
            </a:br>
            <a:br>
              <a:rPr lang="en-US" b="1" smtClean="0"/>
            </a:br>
            <a:r>
              <a:rPr lang="en-US" sz="3600" smtClean="0"/>
              <a:t>Mô hình dữ liệu ở mức logi</a:t>
            </a:r>
            <a:r>
              <a:rPr lang="en-US" sz="3100" smtClean="0"/>
              <a:t>c</a:t>
            </a:r>
            <a:endParaRPr lang="en-US" sz="3600" b="1"/>
          </a:p>
        </p:txBody>
      </p:sp>
      <p:pic>
        <p:nvPicPr>
          <p:cNvPr id="620747051" name="Hình ảnh 1"/>
          <p:cNvPicPr>
            <a:picLocks noChangeAspect="1"/>
          </p:cNvPicPr>
          <p:nvPr/>
        </p:nvPicPr>
        <p:blipFill>
          <a:blip r:embed="rId1"/>
          <a:stretch>
            <a:fillRect/>
          </a:stretch>
        </p:blipFill>
        <p:spPr>
          <a:xfrm>
            <a:off x="5555615" y="0"/>
            <a:ext cx="6647815" cy="6858635"/>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954223"/>
          </a:xfrm>
        </p:spPr>
        <p:txBody>
          <a:bodyPr>
            <a:normAutofit fontScale="90000"/>
          </a:bodyPr>
          <a:lstStyle/>
          <a:p>
            <a:r>
              <a:rPr lang="en-US" sz="3600" b="1" smtClean="0">
                <a:cs typeface="Times New Roman" panose="02020603050405020304" pitchFamily="18" charset="0"/>
              </a:rPr>
              <a:t>5.  Cơ sở dữ liệu</a:t>
            </a:r>
            <a:br>
              <a:rPr lang="en-US" sz="3600" b="1" smtClean="0"/>
            </a:br>
            <a:r>
              <a:rPr lang="en-US" sz="3600" b="1" smtClean="0"/>
              <a:t>	</a:t>
            </a:r>
            <a:r>
              <a:rPr lang="en-US" sz="3100" smtClean="0"/>
              <a:t>Sơ đồ mối quan hệ giữa các bảng</a:t>
            </a:r>
            <a:endParaRPr lang="en-US" sz="3600" b="1"/>
          </a:p>
        </p:txBody>
      </p:sp>
      <p:pic>
        <p:nvPicPr>
          <p:cNvPr id="1385175773" name="Hình ảnh 1" descr="Ảnh có chứa văn bản, biểu đồ, hàng, Kế hoạch&#10;&#10;Nội dung do AI tạo ra có thể không chính xác."/>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572135" y="1481455"/>
            <a:ext cx="10918190" cy="4735830"/>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954223"/>
          </a:xfrm>
        </p:spPr>
        <p:txBody>
          <a:bodyPr>
            <a:normAutofit fontScale="90000"/>
          </a:bodyPr>
          <a:lstStyle/>
          <a:p>
            <a:r>
              <a:rPr lang="en-US" sz="3600" b="1" smtClean="0">
                <a:cs typeface="Times New Roman" panose="02020603050405020304" pitchFamily="18" charset="0"/>
              </a:rPr>
              <a:t>6. Mô hình xử lý</a:t>
            </a:r>
            <a:br>
              <a:rPr lang="en-US" sz="3600" b="1" smtClean="0"/>
            </a:br>
            <a:r>
              <a:rPr lang="en-US" sz="3600" b="1" smtClean="0"/>
              <a:t>	</a:t>
            </a:r>
            <a:r>
              <a:rPr lang="en-US" sz="3100" smtClean="0"/>
              <a:t>Sơ đồ use case người dùng</a:t>
            </a:r>
            <a:endParaRPr lang="en-US" sz="3600" b="1"/>
          </a:p>
        </p:txBody>
      </p:sp>
      <p:pic>
        <p:nvPicPr>
          <p:cNvPr id="640888769" name="Hình ảnh 1" descr="Ảnh có chứa văn bản, biểu đồ, ảnh chụp màn hình, hàng&#10;&#10;Nội dung do AI tạo ra có thể không chính xác."/>
          <p:cNvPicPr>
            <a:picLocks noChangeAspect="1"/>
          </p:cNvPicPr>
          <p:nvPr/>
        </p:nvPicPr>
        <p:blipFill>
          <a:blip r:embed="rId1"/>
          <a:stretch>
            <a:fillRect/>
          </a:stretch>
        </p:blipFill>
        <p:spPr>
          <a:xfrm>
            <a:off x="978535" y="1410335"/>
            <a:ext cx="8284845" cy="5447665"/>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954223"/>
          </a:xfrm>
        </p:spPr>
        <p:txBody>
          <a:bodyPr>
            <a:normAutofit fontScale="90000"/>
          </a:bodyPr>
          <a:lstStyle/>
          <a:p>
            <a:r>
              <a:rPr lang="en-US" sz="3600" b="1" smtClean="0">
                <a:cs typeface="Times New Roman" panose="02020603050405020304" pitchFamily="18" charset="0"/>
              </a:rPr>
              <a:t>6. Mô hình xử lý</a:t>
            </a:r>
            <a:br>
              <a:rPr lang="en-US" sz="3600" b="1" smtClean="0"/>
            </a:br>
            <a:r>
              <a:rPr lang="en-US" sz="3600" b="1" smtClean="0"/>
              <a:t>	</a:t>
            </a:r>
            <a:r>
              <a:rPr lang="en-US" sz="3100" smtClean="0"/>
              <a:t>Sơ đồ use case quản trị viên</a:t>
            </a:r>
            <a:endParaRPr lang="en-US" sz="3600" b="1"/>
          </a:p>
        </p:txBody>
      </p:sp>
      <p:pic>
        <p:nvPicPr>
          <p:cNvPr id="1164929996" name="Hình ảnh 1" descr="Ảnh có chứa văn bản, biểu đồ, thiết kế&#10;&#10;Nội dung do AI tạo ra có thể không chính xác."/>
          <p:cNvPicPr>
            <a:picLocks noChangeAspect="1"/>
          </p:cNvPicPr>
          <p:nvPr/>
        </p:nvPicPr>
        <p:blipFill>
          <a:blip r:embed="rId1"/>
          <a:stretch>
            <a:fillRect/>
          </a:stretch>
        </p:blipFill>
        <p:spPr>
          <a:xfrm>
            <a:off x="704215" y="1529715"/>
            <a:ext cx="9569450" cy="532828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649605"/>
            <a:ext cx="10465435" cy="6012180"/>
          </a:xfrm>
        </p:spPr>
        <p:txBody>
          <a:bodyPr>
            <a:noAutofit/>
          </a:bodyPr>
          <a:lstStyle/>
          <a:p>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vi-VN" altLang="en-US" sz="2800" b="1">
                <a:latin typeface="Calibri Light" panose="020F0302020204030204" pitchFamily="34" charset="0"/>
                <a:ea typeface="Calibri Light" panose="020F0302020204030204" pitchFamily="34" charset="0"/>
                <a:cs typeface="Calibri Light" panose="020F0302020204030204" pitchFamily="34" charset="0"/>
              </a:rPr>
              <a:t>7. Kết quả đạt được</a:t>
            </a:r>
            <a:br>
              <a:rPr lang="en-US" altLang="en-US" sz="2800" b="1">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Qua quá trình nghiên cứu và triển khai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ồ án "Website Bán Dụng Cụ Học Tập", sinh viên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ã thu </a:t>
            </a:r>
            <a:r>
              <a:rPr lang="" altLang="en-US" sz="2000">
                <a:latin typeface="Calibri Light" panose="020F0302020204030204" pitchFamily="34" charset="0"/>
                <a:ea typeface="Calibri Light" panose="020F0302020204030204" pitchFamily="34" charset="0"/>
                <a:cs typeface="Calibri Light" panose="020F0302020204030204" pitchFamily="34" charset="0"/>
              </a:rPr>
              <a:t>đư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ợc những thành quả quan trọng sau:</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Về kiến thức và kỹ n</a:t>
            </a:r>
            <a:r>
              <a:rPr lang="" altLang="en-US" sz="20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ng:</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Nắm vững nguyên l</a:t>
            </a:r>
            <a:r>
              <a:rPr lang="" altLang="en-US" sz="2000">
                <a:latin typeface="Calibri Light" panose="020F0302020204030204" pitchFamily="34" charset="0"/>
                <a:ea typeface="Calibri Light" panose="020F0302020204030204" pitchFamily="34" charset="0"/>
                <a:cs typeface="Calibri Light" panose="020F0302020204030204" pitchFamily="34" charset="0"/>
              </a:rPr>
              <a:t>ý</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 hoạt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ộng của ứng dụng web Single Page Application (SPA)</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Thành thạo việc sử dụng HTML5, CSS3 và JavaScript ES6+ trong phát triển giao diện ng</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ời dùng</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Hiểu r</a:t>
            </a:r>
            <a:r>
              <a:rPr lang="" altLang="en-US" sz="2000">
                <a:latin typeface="Calibri Light" panose="020F0302020204030204" pitchFamily="34" charset="0"/>
                <a:ea typeface="Calibri Light" panose="020F0302020204030204" pitchFamily="34" charset="0"/>
                <a:cs typeface="Calibri Light" panose="020F0302020204030204" pitchFamily="34" charset="0"/>
              </a:rPr>
              <a:t>õ</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 quy trình vận hành của một hệ thống th</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ơng mại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iện tử chuyên về v</a:t>
            </a:r>
            <a:r>
              <a:rPr lang="" altLang="en-US" sz="20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n phòng phẩm</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Tích l</a:t>
            </a:r>
            <a:r>
              <a:rPr lang="" altLang="en-US" sz="2000">
                <a:latin typeface="Calibri Light" panose="020F0302020204030204" pitchFamily="34" charset="0"/>
                <a:ea typeface="Calibri Light" panose="020F0302020204030204" pitchFamily="34" charset="0"/>
                <a:cs typeface="Calibri Light" panose="020F0302020204030204" pitchFamily="34" charset="0"/>
              </a:rPr>
              <a:t>ũ</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y kinh nghiệm về nghiệp vụ kinh doanh trong l</a:t>
            </a:r>
            <a:r>
              <a:rPr lang="" altLang="en-US" sz="2000">
                <a:latin typeface="Calibri Light" panose="020F0302020204030204" pitchFamily="34" charset="0"/>
                <a:ea typeface="Calibri Light" panose="020F0302020204030204" pitchFamily="34" charset="0"/>
                <a:cs typeface="Calibri Light" panose="020F0302020204030204" pitchFamily="34" charset="0"/>
              </a:rPr>
              <a:t>ĩ</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nh vực dụng cụ học tập</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Về sản phẩm hoàn thiện:</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Xây dựng thành công hệ thống website với giao diện trực quan, dễ sử dụng cho cả khách hàng lẫn quản trị viên</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Danh mục sản phẩm </a:t>
            </a:r>
            <a:r>
              <a:rPr lang="" altLang="en-US" sz="2000">
                <a:latin typeface="Calibri Light" panose="020F0302020204030204" pitchFamily="34" charset="0"/>
                <a:ea typeface="Calibri Light" panose="020F0302020204030204" pitchFamily="34" charset="0"/>
                <a:cs typeface="Calibri Light" panose="020F0302020204030204" pitchFamily="34" charset="0"/>
              </a:rPr>
              <a:t>đư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ợc phân loại khoa học với thông tin chi tiết, hình ảnh r</a:t>
            </a:r>
            <a:r>
              <a:rPr lang="" altLang="en-US" sz="2000">
                <a:latin typeface="Calibri Light" panose="020F0302020204030204" pitchFamily="34" charset="0"/>
                <a:ea typeface="Calibri Light" panose="020F0302020204030204" pitchFamily="34" charset="0"/>
                <a:cs typeface="Calibri Light" panose="020F0302020204030204" pitchFamily="34" charset="0"/>
              </a:rPr>
              <a:t>õ</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 ràng</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Tích hợp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ầy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ủ các tính n</a:t>
            </a:r>
            <a:r>
              <a:rPr lang="" altLang="en-US" sz="20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ng cần thiết cho một website bán hàng trực tuyến</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Về trải nghiệm ng</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ời dùng:</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Khách hàng có thể tra cứu thông tin sản phẩm thông qua hình ảnh minh họa, mô tả chi tiết, bảng giá và nhận xét từ ng</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ời mua tr</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ớc</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Hỗ trợ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ặt hàng trực tuyến mọi lúc mọi nơi mà không cần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ến cửa hàng</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Hiển thị các ch</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ơng trình </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u </a:t>
            </a:r>
            <a:r>
              <a:rPr lang="" altLang="en-US" sz="20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ãi, sản phẩm nổi bật nhằm thu hút sự quan tâm của ng</a:t>
            </a:r>
            <a:r>
              <a:rPr lang="" altLang="en-US" sz="20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000">
                <a:latin typeface="Calibri Light" panose="020F0302020204030204" pitchFamily="34" charset="0"/>
                <a:ea typeface="Calibri Light" panose="020F0302020204030204" pitchFamily="34" charset="0"/>
                <a:cs typeface="Calibri Light" panose="020F0302020204030204" pitchFamily="34" charset="0"/>
              </a:rPr>
              <a:t>ời mua</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r>
              <a:rPr lang="en-US" altLang="en-US" sz="2000">
                <a:latin typeface="Calibri Light" panose="020F0302020204030204" pitchFamily="34" charset="0"/>
                <a:ea typeface="Calibri Light" panose="020F0302020204030204" pitchFamily="34" charset="0"/>
                <a:cs typeface="Calibri Light" panose="020F0302020204030204" pitchFamily="34" charset="0"/>
              </a:rPr>
              <a:t> </a:t>
            </a:r>
            <a:br>
              <a:rPr lang="en-US" altLang="en-US" sz="2000">
                <a:latin typeface="Calibri Light" panose="020F0302020204030204" pitchFamily="34" charset="0"/>
                <a:ea typeface="Calibri Light" panose="020F0302020204030204" pitchFamily="34" charset="0"/>
                <a:cs typeface="Calibri Light" panose="020F0302020204030204" pitchFamily="34" charset="0"/>
              </a:rPr>
            </a:br>
            <a:endParaRPr lang="en-US" altLang="en-US" sz="2000">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4494257"/>
          </a:xfrm>
        </p:spPr>
        <p:txBody>
          <a:bodyPr>
            <a:noAutofit/>
          </a:bodyPr>
          <a:lstStyle/>
          <a:p>
            <a:r>
              <a:rPr lang="en-US" sz="3600" b="1" smtClean="0">
                <a:cs typeface="Times New Roman" panose="02020603050405020304" pitchFamily="18" charset="0"/>
              </a:rPr>
              <a:t>7. Kết quả đạt được</a:t>
            </a:r>
            <a:br>
              <a:rPr lang="en-US" sz="3600" b="1" smtClean="0">
                <a:cs typeface="Times New Roman" panose="02020603050405020304" pitchFamily="18" charset="0"/>
              </a:rPr>
            </a:br>
            <a:br>
              <a:rPr lang="en-US" sz="2800" b="1" smtClean="0"/>
            </a:br>
            <a:r>
              <a:rPr lang="en-US" sz="2800" b="1" smtClean="0"/>
              <a:t>	</a:t>
            </a:r>
            <a:r>
              <a:rPr lang="vi-VN" sz="2800" b="1" smtClean="0">
                <a:latin typeface="Calibri Light" panose="020F0302020204030204" pitchFamily="34" charset="0"/>
                <a:ea typeface="Calibri Light" panose="020F0302020204030204" pitchFamily="34" charset="0"/>
                <a:cs typeface="Calibri Light" panose="020F0302020204030204" pitchFamily="34" charset="0"/>
              </a:rPr>
              <a:t>Đối </a:t>
            </a:r>
            <a:r>
              <a:rPr lang="vi-VN" sz="2800" b="1">
                <a:latin typeface="Calibri Light" panose="020F0302020204030204" pitchFamily="34" charset="0"/>
                <a:ea typeface="Calibri Light" panose="020F0302020204030204" pitchFamily="34" charset="0"/>
                <a:cs typeface="Calibri Light" panose="020F0302020204030204" pitchFamily="34" charset="0"/>
              </a:rPr>
              <a:t>với quản trị viên, website cho phép:</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a:t>
            </a:r>
            <a:r>
              <a:rPr lang="vi-VN" sz="2800">
                <a:latin typeface="Calibri Light" panose="020F0302020204030204" pitchFamily="34" charset="0"/>
                <a:ea typeface="Calibri Light" panose="020F0302020204030204" pitchFamily="34" charset="0"/>
                <a:cs typeface="Calibri Light" panose="020F0302020204030204" pitchFamily="34" charset="0"/>
              </a:rPr>
              <a:t>, thêm, xóa, sửa danh mục.</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a:t>
            </a:r>
            <a:r>
              <a:rPr lang="vi-VN" sz="2800">
                <a:latin typeface="Calibri Light" panose="020F0302020204030204" pitchFamily="34" charset="0"/>
                <a:ea typeface="Calibri Light" panose="020F0302020204030204" pitchFamily="34" charset="0"/>
                <a:cs typeface="Calibri Light" panose="020F0302020204030204" pitchFamily="34" charset="0"/>
              </a:rPr>
              <a:t>, thêm, xóa, sửa sản phẩm.</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a:t>
            </a:r>
            <a:r>
              <a:rPr lang="vi-VN" sz="2800">
                <a:latin typeface="Calibri Light" panose="020F0302020204030204" pitchFamily="34" charset="0"/>
                <a:ea typeface="Calibri Light" panose="020F0302020204030204" pitchFamily="34" charset="0"/>
                <a:cs typeface="Calibri Light" panose="020F0302020204030204" pitchFamily="34" charset="0"/>
              </a:rPr>
              <a:t>, thêm, xóa, sửa tin tức.</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a:t>
            </a:r>
            <a:r>
              <a:rPr lang="vi-VN" sz="2800">
                <a:latin typeface="Calibri Light" panose="020F0302020204030204" pitchFamily="34" charset="0"/>
                <a:ea typeface="Calibri Light" panose="020F0302020204030204" pitchFamily="34" charset="0"/>
                <a:cs typeface="Calibri Light" panose="020F0302020204030204" pitchFamily="34" charset="0"/>
              </a:rPr>
              <a:t>, thêm, xóa, sửa bài viết.</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a:t>
            </a:r>
            <a:r>
              <a:rPr lang="vi-VN" sz="2800">
                <a:latin typeface="Calibri Light" panose="020F0302020204030204" pitchFamily="34" charset="0"/>
                <a:ea typeface="Calibri Light" panose="020F0302020204030204" pitchFamily="34" charset="0"/>
                <a:cs typeface="Calibri Light" panose="020F0302020204030204" pitchFamily="34" charset="0"/>
              </a:rPr>
              <a:t>, thêm, xóa, sửa danh mục sản phẩm.</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và cập nhật đơn hàng.</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doanh thu và các đơn đơn hàng.</a:t>
            </a:r>
            <a:br>
              <a:rPr lang="vi-VN" sz="2800"/>
            </a:br>
            <a:endParaRPr lang="en-US" sz="2800" b="1">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4585697"/>
          </a:xfrm>
        </p:spPr>
        <p:txBody>
          <a:bodyPr>
            <a:noAutofit/>
          </a:bodyPr>
          <a:lstStyle/>
          <a:p>
            <a:r>
              <a:rPr lang="en-US" sz="3600" b="1" smtClean="0">
                <a:cs typeface="Times New Roman" panose="02020603050405020304" pitchFamily="18" charset="0"/>
              </a:rPr>
              <a:t>7. Kết quả đạt được</a:t>
            </a:r>
            <a:br>
              <a:rPr lang="en-US" sz="3600" b="1" smtClean="0">
                <a:cs typeface="Times New Roman" panose="02020603050405020304" pitchFamily="18" charset="0"/>
              </a:rPr>
            </a:br>
            <a:br>
              <a:rPr lang="en-US" sz="2800" b="1" smtClean="0"/>
            </a:br>
            <a:r>
              <a:rPr lang="en-US" sz="2800" b="1" smtClean="0"/>
              <a:t>	</a:t>
            </a:r>
            <a:r>
              <a:rPr lang="vi-VN" sz="2800" b="1">
                <a:latin typeface="Calibri Light" panose="020F0302020204030204" pitchFamily="34" charset="0"/>
                <a:ea typeface="Calibri Light" panose="020F0302020204030204" pitchFamily="34" charset="0"/>
                <a:cs typeface="Calibri Light" panose="020F0302020204030204" pitchFamily="34" charset="0"/>
              </a:rPr>
              <a:t>Đối với người dùng, website cho phép:</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Đăng </a:t>
            </a:r>
            <a:r>
              <a:rPr lang="vi-VN" sz="2800">
                <a:latin typeface="Calibri Light" panose="020F0302020204030204" pitchFamily="34" charset="0"/>
                <a:ea typeface="Calibri Light" panose="020F0302020204030204" pitchFamily="34" charset="0"/>
                <a:cs typeface="Calibri Light" panose="020F0302020204030204" pitchFamily="34" charset="0"/>
              </a:rPr>
              <a:t>ký và đăng nhập vào website.</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thông tin danh mục chi tiết sản phẩm và đánh giá sản phẩm.</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Đặt </a:t>
            </a:r>
            <a:r>
              <a:rPr lang="vi-VN" sz="2800">
                <a:latin typeface="Calibri Light" panose="020F0302020204030204" pitchFamily="34" charset="0"/>
                <a:ea typeface="Calibri Light" panose="020F0302020204030204" pitchFamily="34" charset="0"/>
                <a:cs typeface="Calibri Light" panose="020F0302020204030204" pitchFamily="34" charset="0"/>
              </a:rPr>
              <a:t>hàng và thông báo về mail.</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Tìm </a:t>
            </a:r>
            <a:r>
              <a:rPr lang="vi-VN" sz="2800">
                <a:latin typeface="Calibri Light" panose="020F0302020204030204" pitchFamily="34" charset="0"/>
                <a:ea typeface="Calibri Light" panose="020F0302020204030204" pitchFamily="34" charset="0"/>
                <a:cs typeface="Calibri Light" panose="020F0302020204030204" pitchFamily="34" charset="0"/>
              </a:rPr>
              <a:t>kiếm sản </a:t>
            </a:r>
            <a:r>
              <a:rPr lang="vi-VN" sz="2800" smtClean="0">
                <a:latin typeface="Calibri Light" panose="020F0302020204030204" pitchFamily="34" charset="0"/>
                <a:ea typeface="Calibri Light" panose="020F0302020204030204" pitchFamily="34" charset="0"/>
                <a:cs typeface="Calibri Light" panose="020F0302020204030204" pitchFamily="34" charset="0"/>
              </a:rPr>
              <a:t>phẩm</a:t>
            </a:r>
            <a:r>
              <a:rPr lang="en-US" sz="2800" smtClean="0">
                <a:latin typeface="Calibri Light" panose="020F0302020204030204" pitchFamily="34" charset="0"/>
                <a:ea typeface="Calibri Light" panose="020F0302020204030204" pitchFamily="34" charset="0"/>
                <a:cs typeface="Calibri Light" panose="020F0302020204030204" pitchFamily="34" charset="0"/>
              </a:rPr>
              <a:t> theo tên, danh mục hoặc</a:t>
            </a:r>
            <a:r>
              <a:rPr lang="vi-VN"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a:latin typeface="Calibri Light" panose="020F0302020204030204" pitchFamily="34" charset="0"/>
                <a:ea typeface="Calibri Light" panose="020F0302020204030204" pitchFamily="34" charset="0"/>
                <a:cs typeface="Calibri Light" panose="020F0302020204030204" pitchFamily="34" charset="0"/>
              </a:rPr>
              <a:t>lọc giá.</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Thêm </a:t>
            </a:r>
            <a:r>
              <a:rPr lang="vi-VN" sz="2800">
                <a:latin typeface="Calibri Light" panose="020F0302020204030204" pitchFamily="34" charset="0"/>
                <a:ea typeface="Calibri Light" panose="020F0302020204030204" pitchFamily="34" charset="0"/>
                <a:cs typeface="Calibri Light" panose="020F0302020204030204" pitchFamily="34" charset="0"/>
              </a:rPr>
              <a:t>sản phẩm vào danh sách yêu thích và giỏ hàng.</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các bài viết và thông tin khuyến mãi.</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giới thiệu về website và liên hệ.</a:t>
            </a:r>
            <a:br>
              <a:rPr lang="vi-VN" sz="2800">
                <a:latin typeface="Calibri Light" panose="020F0302020204030204" pitchFamily="34" charset="0"/>
                <a:ea typeface="Calibri Light" panose="020F0302020204030204" pitchFamily="34" charset="0"/>
                <a:cs typeface="Calibri Light" panose="020F0302020204030204" pitchFamily="34" charset="0"/>
              </a:rPr>
            </a:br>
            <a:r>
              <a:rPr lang="en-US" sz="2800" smtClean="0">
                <a:latin typeface="Calibri Light" panose="020F0302020204030204" pitchFamily="34" charset="0"/>
                <a:ea typeface="Calibri Light" panose="020F0302020204030204" pitchFamily="34" charset="0"/>
                <a:cs typeface="Calibri Light" panose="020F0302020204030204" pitchFamily="34" charset="0"/>
              </a:rPr>
              <a:t>	</a:t>
            </a:r>
            <a:r>
              <a:rPr lang="vi-VN" sz="2800" smtClean="0">
                <a:latin typeface="Calibri Light" panose="020F0302020204030204" pitchFamily="34" charset="0"/>
                <a:ea typeface="Calibri Light" panose="020F0302020204030204" pitchFamily="34" charset="0"/>
                <a:cs typeface="Calibri Light" panose="020F0302020204030204" pitchFamily="34" charset="0"/>
              </a:rPr>
              <a:t>Xem </a:t>
            </a:r>
            <a:r>
              <a:rPr lang="vi-VN" sz="2800">
                <a:latin typeface="Calibri Light" panose="020F0302020204030204" pitchFamily="34" charset="0"/>
                <a:ea typeface="Calibri Light" panose="020F0302020204030204" pitchFamily="34" charset="0"/>
                <a:cs typeface="Calibri Light" panose="020F0302020204030204" pitchFamily="34" charset="0"/>
              </a:rPr>
              <a:t>thông tin tài khoản đã đăng ký.</a:t>
            </a:r>
            <a:br>
              <a:rPr lang="vi-VN" sz="2800">
                <a:latin typeface="Calibri Light" panose="020F0302020204030204" pitchFamily="34" charset="0"/>
                <a:ea typeface="Calibri Light" panose="020F0302020204030204" pitchFamily="34" charset="0"/>
                <a:cs typeface="Calibri Light" panose="020F0302020204030204" pitchFamily="34" charset="0"/>
              </a:rPr>
            </a:br>
            <a:endParaRPr lang="en-US" sz="2800" b="1">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70355" y="456566"/>
            <a:ext cx="10515600" cy="5957297"/>
          </a:xfrm>
        </p:spPr>
        <p:txBody>
          <a:bodyPr>
            <a:noAutofit/>
          </a:bodyPr>
          <a:lstStyle/>
          <a:p>
            <a:r>
              <a:rPr lang="en-US" sz="3600" b="1" smtClean="0">
                <a:cs typeface="Times New Roman" panose="02020603050405020304" pitchFamily="18" charset="0"/>
              </a:rPr>
              <a:t>8. Hạn chế và hướng phát triển</a:t>
            </a:r>
            <a:br>
              <a:rPr lang="en-US" sz="3600" b="1" smtClean="0">
                <a:cs typeface="Times New Roman" panose="02020603050405020304" pitchFamily="18" charset="0"/>
              </a:rPr>
            </a:br>
            <a:br>
              <a:rPr lang="en-US" sz="2800" b="1" smtClean="0"/>
            </a:br>
            <a:r>
              <a:rPr lang="en-US" sz="2800" b="1" smtClean="0"/>
              <a:t>Hạn chế</a:t>
            </a:r>
            <a:br>
              <a:rPr lang="en-US" sz="2800" b="1" smtClean="0"/>
            </a:br>
            <a:br>
              <a:rPr lang="en-US" sz="2800" b="1" smtClean="0"/>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Khả n</a:t>
            </a:r>
            <a:r>
              <a:rPr lang="" altLang="en-US" sz="24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ng t</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ơng thích: Giao diện ch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 </a:t>
            </a:r>
            <a:r>
              <a:rPr lang="" altLang="en-US" sz="2400">
                <a:latin typeface="Calibri Light" panose="020F0302020204030204" pitchFamily="34" charset="0"/>
                <a:ea typeface="Calibri Light" panose="020F0302020204030204" pitchFamily="34" charset="0"/>
                <a:cs typeface="Calibri Light" panose="020F0302020204030204" pitchFamily="34" charset="0"/>
              </a:rPr>
              <a:t>đư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ợc tối </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u hoàn toàn cho một số thiết bị di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ộng có kích th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ớc màn hình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ặc biệt, ảnh 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ởng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ến trải nghiệm ng</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ời dùng trên các nền tảng khác nhau</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Tính n</a:t>
            </a:r>
            <a:r>
              <a:rPr lang="" altLang="en-US" sz="24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ng nâng cao: Một số chức n</a:t>
            </a:r>
            <a:r>
              <a:rPr lang="" altLang="en-US" sz="24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ng nh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 gợi </a:t>
            </a:r>
            <a:r>
              <a:rPr lang="" altLang="en-US" sz="2400">
                <a:latin typeface="Calibri Light" panose="020F0302020204030204" pitchFamily="34" charset="0"/>
                <a:ea typeface="Calibri Light" panose="020F0302020204030204" pitchFamily="34" charset="0"/>
                <a:cs typeface="Calibri Light" panose="020F0302020204030204" pitchFamily="34" charset="0"/>
              </a:rPr>
              <a:t>ý</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 sản phẩm dựa trên hành vi mua sắm, bộ lọc tìm kiếm theo nhiều tiêu chí, quản l</a:t>
            </a:r>
            <a:r>
              <a:rPr lang="" altLang="en-US" sz="2400">
                <a:latin typeface="Calibri Light" panose="020F0302020204030204" pitchFamily="34" charset="0"/>
                <a:ea typeface="Calibri Light" panose="020F0302020204030204" pitchFamily="34" charset="0"/>
                <a:cs typeface="Calibri Light" panose="020F0302020204030204" pitchFamily="34" charset="0"/>
              </a:rPr>
              <a:t>ý</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 chi tiết lịch sử giao dịch ch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 </a:t>
            </a:r>
            <a:r>
              <a:rPr lang="" altLang="en-US" sz="2400">
                <a:latin typeface="Calibri Light" panose="020F0302020204030204" pitchFamily="34" charset="0"/>
                <a:ea typeface="Calibri Light" panose="020F0302020204030204" pitchFamily="34" charset="0"/>
                <a:cs typeface="Calibri Light" panose="020F0302020204030204" pitchFamily="34" charset="0"/>
              </a:rPr>
              <a:t>đư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ợc triển khai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ầy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ủ</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Ph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ơng thức thanh toán: Hiện tại website chỉ hỗ trợ thanh toán khi nhận hàng (COD), ch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 tích hợp các cổng thanh toán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iện tử phổ biến nh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 VNPay, MoMo, ZaloPay hay thanh toán quốc tế qua PayPal, Stripe.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iều này hạn chế sự tiện lợi cho khách hàng có nhu cầu thanh toán trực tuyến</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Theo d</a:t>
            </a:r>
            <a:r>
              <a:rPr lang="" altLang="en-US" sz="2400">
                <a:latin typeface="Calibri Light" panose="020F0302020204030204" pitchFamily="34" charset="0"/>
                <a:ea typeface="Calibri Light" panose="020F0302020204030204" pitchFamily="34" charset="0"/>
                <a:cs typeface="Calibri Light" panose="020F0302020204030204" pitchFamily="34" charset="0"/>
              </a:rPr>
              <a:t>õ</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i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ơn hàng: Khách hàng ch</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 thể theo d</a:t>
            </a:r>
            <a:r>
              <a:rPr lang="" altLang="en-US" sz="2400">
                <a:latin typeface="Calibri Light" panose="020F0302020204030204" pitchFamily="34" charset="0"/>
                <a:ea typeface="Calibri Light" panose="020F0302020204030204" pitchFamily="34" charset="0"/>
                <a:cs typeface="Calibri Light" panose="020F0302020204030204" pitchFamily="34" charset="0"/>
              </a:rPr>
              <a:t>õ</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i chi tiết trạng thái vận chuyển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ơn hàng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ang xử l</a:t>
            </a:r>
            <a:r>
              <a:rPr lang="" altLang="en-US" sz="2400">
                <a:latin typeface="Calibri Light" panose="020F0302020204030204" pitchFamily="34" charset="0"/>
                <a:ea typeface="Calibri Light" panose="020F0302020204030204" pitchFamily="34" charset="0"/>
                <a:cs typeface="Calibri Light" panose="020F0302020204030204" pitchFamily="34" charset="0"/>
              </a:rPr>
              <a:t>ý</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ã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óng gói,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ang giao,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ã giao). Việc này gây khó kh</a:t>
            </a:r>
            <a:r>
              <a:rPr lang="" altLang="en-US" sz="2400">
                <a:latin typeface="Calibri Light" panose="020F0302020204030204" pitchFamily="34" charset="0"/>
                <a:ea typeface="Calibri Light" panose="020F0302020204030204" pitchFamily="34" charset="0"/>
                <a:cs typeface="Calibri Light" panose="020F0302020204030204" pitchFamily="34" charset="0"/>
              </a:rPr>
              <a:t>ă</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n khi khách hàng muốn nắm bắt tình hình thực tế của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ơn hàng</a:t>
            </a:r>
            <a:br>
              <a:rPr lang="en-US" altLang="en-US" sz="2800" b="1">
                <a:latin typeface="Calibri Light" panose="020F0302020204030204" pitchFamily="34" charset="0"/>
                <a:ea typeface="Calibri Light" panose="020F0302020204030204" pitchFamily="34" charset="0"/>
                <a:cs typeface="Calibri Light" panose="020F0302020204030204" pitchFamily="34" charset="0"/>
              </a:rPr>
            </a:br>
            <a:endParaRPr lang="en-US" altLang="en-US" sz="2800" b="1">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90855" y="384810"/>
            <a:ext cx="10515600" cy="6334125"/>
          </a:xfrm>
        </p:spPr>
        <p:txBody>
          <a:bodyPr>
            <a:noAutofit/>
          </a:bodyPr>
          <a:lstStyle/>
          <a:p>
            <a:r>
              <a:rPr lang="en-US" sz="3200" b="1" smtClean="0">
                <a:cs typeface="Times New Roman" panose="02020603050405020304" pitchFamily="18" charset="0"/>
                <a:sym typeface="+mn-ea"/>
              </a:rPr>
              <a:t>8. Hạn chế và hướng phát triển</a:t>
            </a:r>
            <a:br>
              <a:rPr lang="vi-VN" altLang="en-US" sz="3200" b="1" smtClean="0">
                <a:cs typeface="Times New Roman" panose="02020603050405020304" pitchFamily="18" charset="0"/>
              </a:rPr>
            </a:br>
            <a:br>
              <a:rPr lang="vi-VN" altLang="en-US" sz="2400" b="1" smtClean="0">
                <a:cs typeface="Times New Roman" panose="02020603050405020304" pitchFamily="18" charset="0"/>
              </a:rPr>
            </a:br>
            <a:r>
              <a:rPr lang="vi-VN" altLang="en-US" sz="2400" b="1" smtClean="0">
                <a:cs typeface="Times New Roman" panose="02020603050405020304" pitchFamily="18" charset="0"/>
              </a:rPr>
              <a:t>  Hướng Phát Triển</a:t>
            </a:r>
            <a:br>
              <a:rPr lang="en-US" altLang="en-US" sz="2400" smtClean="0">
                <a:cs typeface="Times New Roman" panose="02020603050405020304" pitchFamily="18" charset="0"/>
              </a:rPr>
            </a:br>
            <a:r>
              <a:rPr lang="en-US" altLang="en-US" sz="2400" smtClean="0">
                <a:cs typeface="Times New Roman" panose="02020603050405020304" pitchFamily="18" charset="0"/>
              </a:rPr>
              <a:t>• Tối </a:t>
            </a:r>
            <a:r>
              <a:rPr lang="" altLang="en-US" sz="2400" smtClean="0">
                <a:cs typeface="Times New Roman" panose="02020603050405020304" pitchFamily="18" charset="0"/>
              </a:rPr>
              <a:t>ư</a:t>
            </a:r>
            <a:r>
              <a:rPr lang="en-US" altLang="en-US" sz="2400" smtClean="0">
                <a:cs typeface="Times New Roman" panose="02020603050405020304" pitchFamily="18" charset="0"/>
              </a:rPr>
              <a:t>u hóa giao diện responsive cho mọi kích th</a:t>
            </a:r>
            <a:r>
              <a:rPr lang="" altLang="en-US" sz="2400" smtClean="0">
                <a:cs typeface="Times New Roman" panose="02020603050405020304" pitchFamily="18" charset="0"/>
              </a:rPr>
              <a:t>ư</a:t>
            </a:r>
            <a:r>
              <a:rPr lang="en-US" altLang="en-US" sz="2400" smtClean="0">
                <a:cs typeface="Times New Roman" panose="02020603050405020304" pitchFamily="18" charset="0"/>
              </a:rPr>
              <a:t>ớc màn hình</a:t>
            </a:r>
            <a:br>
              <a:rPr lang="en-US" altLang="en-US" sz="2400" smtClean="0">
                <a:cs typeface="Times New Roman" panose="02020603050405020304" pitchFamily="18" charset="0"/>
              </a:rPr>
            </a:br>
            <a:r>
              <a:rPr lang="en-US" altLang="en-US" sz="2400" smtClean="0">
                <a:cs typeface="Times New Roman" panose="02020603050405020304" pitchFamily="18" charset="0"/>
              </a:rPr>
              <a:t>• Cải thiện hiệu suất và tốc </a:t>
            </a:r>
            <a:r>
              <a:rPr lang="" altLang="en-US" sz="2400" smtClean="0">
                <a:cs typeface="Times New Roman" panose="02020603050405020304" pitchFamily="18" charset="0"/>
              </a:rPr>
              <a:t>đ</a:t>
            </a:r>
            <a:r>
              <a:rPr lang="en-US" altLang="en-US" sz="2400" smtClean="0">
                <a:cs typeface="Times New Roman" panose="02020603050405020304" pitchFamily="18" charset="0"/>
              </a:rPr>
              <a:t>ộ tải trang</a:t>
            </a:r>
            <a:br>
              <a:rPr lang="en-US" altLang="en-US" sz="2400" smtClean="0">
                <a:cs typeface="Times New Roman" panose="02020603050405020304" pitchFamily="18" charset="0"/>
              </a:rPr>
            </a:br>
            <a:r>
              <a:rPr lang="en-US" altLang="en-US" sz="2400" smtClean="0">
                <a:cs typeface="Times New Roman" panose="02020603050405020304" pitchFamily="18" charset="0"/>
              </a:rPr>
              <a:t>• Nâng cao tính bảo mật cho dữ liệu ng</a:t>
            </a:r>
            <a:r>
              <a:rPr lang="" altLang="en-US" sz="2400" smtClean="0">
                <a:cs typeface="Times New Roman" panose="02020603050405020304" pitchFamily="18" charset="0"/>
              </a:rPr>
              <a:t>ư</a:t>
            </a:r>
            <a:r>
              <a:rPr lang="en-US" altLang="en-US" sz="2400" smtClean="0">
                <a:cs typeface="Times New Roman" panose="02020603050405020304" pitchFamily="18" charset="0"/>
              </a:rPr>
              <a:t>ời dùng</a:t>
            </a:r>
            <a:br>
              <a:rPr lang="en-US" altLang="en-US" sz="2400" smtClean="0">
                <a:cs typeface="Times New Roman" panose="02020603050405020304" pitchFamily="18" charset="0"/>
              </a:rPr>
            </a:br>
            <a:r>
              <a:rPr lang="vi-VN" altLang="en-US" sz="2400" smtClean="0">
                <a:cs typeface="Times New Roman" panose="02020603050405020304" pitchFamily="18" charset="0"/>
              </a:rPr>
              <a:t>  </a:t>
            </a:r>
            <a:r>
              <a:rPr lang="en-US" altLang="en-US" sz="2400" smtClean="0">
                <a:cs typeface="Times New Roman" panose="02020603050405020304" pitchFamily="18" charset="0"/>
              </a:rPr>
              <a:t>Bổ sung tính n</a:t>
            </a:r>
            <a:r>
              <a:rPr lang="" altLang="en-US" sz="2400" smtClean="0">
                <a:cs typeface="Times New Roman" panose="02020603050405020304" pitchFamily="18" charset="0"/>
              </a:rPr>
              <a:t>ă</a:t>
            </a:r>
            <a:r>
              <a:rPr lang="en-US" altLang="en-US" sz="2400" smtClean="0">
                <a:cs typeface="Times New Roman" panose="02020603050405020304" pitchFamily="18" charset="0"/>
              </a:rPr>
              <a:t>ng mới</a:t>
            </a:r>
            <a:br>
              <a:rPr lang="en-US" altLang="en-US" sz="2400" smtClean="0">
                <a:cs typeface="Times New Roman" panose="02020603050405020304" pitchFamily="18" charset="0"/>
              </a:rPr>
            </a:br>
            <a:br>
              <a:rPr lang="en-US" altLang="en-US" sz="2400" smtClean="0">
                <a:cs typeface="Times New Roman" panose="02020603050405020304" pitchFamily="18" charset="0"/>
              </a:rPr>
            </a:br>
            <a:r>
              <a:rPr lang="en-US" altLang="en-US" sz="2400" smtClean="0">
                <a:cs typeface="Times New Roman" panose="02020603050405020304" pitchFamily="18" charset="0"/>
              </a:rPr>
              <a:t>• Phát triển chức n</a:t>
            </a:r>
            <a:r>
              <a:rPr lang="" altLang="en-US" sz="2400" smtClean="0">
                <a:cs typeface="Times New Roman" panose="02020603050405020304" pitchFamily="18" charset="0"/>
              </a:rPr>
              <a:t>ă</a:t>
            </a:r>
            <a:r>
              <a:rPr lang="en-US" altLang="en-US" sz="2400" smtClean="0">
                <a:cs typeface="Times New Roman" panose="02020603050405020304" pitchFamily="18" charset="0"/>
              </a:rPr>
              <a:t>ng chọn màu sắc, kích th</a:t>
            </a:r>
            <a:r>
              <a:rPr lang="" altLang="en-US" sz="2400" smtClean="0">
                <a:cs typeface="Times New Roman" panose="02020603050405020304" pitchFamily="18" charset="0"/>
              </a:rPr>
              <a:t>ư</a:t>
            </a:r>
            <a:r>
              <a:rPr lang="en-US" altLang="en-US" sz="2400" smtClean="0">
                <a:cs typeface="Times New Roman" panose="02020603050405020304" pitchFamily="18" charset="0"/>
              </a:rPr>
              <a:t>ớc cho sản phẩm (nếu có)</a:t>
            </a:r>
            <a:br>
              <a:rPr lang="en-US" altLang="en-US" sz="2400" smtClean="0">
                <a:cs typeface="Times New Roman" panose="02020603050405020304" pitchFamily="18" charset="0"/>
              </a:rPr>
            </a:br>
            <a:r>
              <a:rPr lang="en-US" altLang="en-US" sz="2400" smtClean="0">
                <a:cs typeface="Times New Roman" panose="02020603050405020304" pitchFamily="18" charset="0"/>
              </a:rPr>
              <a:t>• Xây dựng hệ thống gợi </a:t>
            </a:r>
            <a:r>
              <a:rPr lang="" altLang="en-US" sz="2400" smtClean="0">
                <a:cs typeface="Times New Roman" panose="02020603050405020304" pitchFamily="18" charset="0"/>
              </a:rPr>
              <a:t>ý</a:t>
            </a:r>
            <a:r>
              <a:rPr lang="en-US" altLang="en-US" sz="2400" smtClean="0">
                <a:cs typeface="Times New Roman" panose="02020603050405020304" pitchFamily="18" charset="0"/>
              </a:rPr>
              <a:t> sản phẩm thông minh dựa trên sở thích và lịch sử mua hàng</a:t>
            </a:r>
            <a:br>
              <a:rPr lang="en-US" altLang="en-US" sz="2400" smtClean="0">
                <a:cs typeface="Times New Roman" panose="02020603050405020304" pitchFamily="18" charset="0"/>
              </a:rPr>
            </a:br>
            <a:r>
              <a:rPr lang="en-US" altLang="en-US" sz="2400" smtClean="0">
                <a:cs typeface="Times New Roman" panose="02020603050405020304" pitchFamily="18" charset="0"/>
              </a:rPr>
              <a:t>• Tích hợp chức n</a:t>
            </a:r>
            <a:r>
              <a:rPr lang="" altLang="en-US" sz="2400" smtClean="0">
                <a:cs typeface="Times New Roman" panose="02020603050405020304" pitchFamily="18" charset="0"/>
              </a:rPr>
              <a:t>ă</a:t>
            </a:r>
            <a:r>
              <a:rPr lang="en-US" altLang="en-US" sz="2400" smtClean="0">
                <a:cs typeface="Times New Roman" panose="02020603050405020304" pitchFamily="18" charset="0"/>
              </a:rPr>
              <a:t>ng so sánh sản phẩm</a:t>
            </a:r>
            <a:br>
              <a:rPr lang="en-US" altLang="en-US" sz="2400" smtClean="0">
                <a:cs typeface="Times New Roman" panose="02020603050405020304" pitchFamily="18" charset="0"/>
              </a:rPr>
            </a:br>
            <a:r>
              <a:rPr lang="en-US" altLang="en-US" sz="2400" smtClean="0">
                <a:cs typeface="Times New Roman" panose="02020603050405020304" pitchFamily="18" charset="0"/>
              </a:rPr>
              <a:t>• Thêm tính n</a:t>
            </a:r>
            <a:r>
              <a:rPr lang="" altLang="en-US" sz="2400" smtClean="0">
                <a:cs typeface="Times New Roman" panose="02020603050405020304" pitchFamily="18" charset="0"/>
              </a:rPr>
              <a:t>ă</a:t>
            </a:r>
            <a:r>
              <a:rPr lang="en-US" altLang="en-US" sz="2400" smtClean="0">
                <a:cs typeface="Times New Roman" panose="02020603050405020304" pitchFamily="18" charset="0"/>
              </a:rPr>
              <a:t>ng </a:t>
            </a:r>
            <a:r>
              <a:rPr lang="" altLang="en-US" sz="2400" smtClean="0">
                <a:cs typeface="Times New Roman" panose="02020603050405020304" pitchFamily="18" charset="0"/>
              </a:rPr>
              <a:t>đ</a:t>
            </a:r>
            <a:r>
              <a:rPr lang="en-US" altLang="en-US" sz="2400" smtClean="0">
                <a:cs typeface="Times New Roman" panose="02020603050405020304" pitchFamily="18" charset="0"/>
              </a:rPr>
              <a:t>ánh giá sản phẩm bằng hình ảnh</a:t>
            </a:r>
            <a:br>
              <a:rPr lang="vi-VN" altLang="en-US" sz="2400" smtClean="0">
                <a:cs typeface="Times New Roman" panose="02020603050405020304" pitchFamily="18" charset="0"/>
              </a:rPr>
            </a:br>
            <a:br>
              <a:rPr lang="vi-VN" altLang="en-US" sz="2400" smtClean="0">
                <a:cs typeface="Times New Roman" panose="02020603050405020304" pitchFamily="18"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Mở rộng quy mô</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Phát triển Backend API với ASP.NET Core và cơ sở dữ liệu SQL Server</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Xây dựng ứng dụng di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ộng cho Android và iOS</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Tích hợp chatbot hỗ trợ khách hàng tự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ộng</a:t>
            </a:r>
            <a:br>
              <a:rPr lang="en-US" altLang="en-US" sz="2400">
                <a:latin typeface="Calibri Light" panose="020F0302020204030204" pitchFamily="34" charset="0"/>
                <a:ea typeface="Calibri Light" panose="020F0302020204030204" pitchFamily="34" charset="0"/>
                <a:cs typeface="Calibri Light" panose="020F0302020204030204" pitchFamily="34" charset="0"/>
              </a:rPr>
            </a:br>
            <a:r>
              <a:rPr lang="en-US" altLang="en-US" sz="2400">
                <a:latin typeface="Calibri Light" panose="020F0302020204030204" pitchFamily="34" charset="0"/>
                <a:ea typeface="Calibri Light" panose="020F0302020204030204" pitchFamily="34" charset="0"/>
                <a:cs typeface="Calibri Light" panose="020F0302020204030204" pitchFamily="34" charset="0"/>
              </a:rPr>
              <a:t>• Triển khai hệ thống tích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iểm và </a:t>
            </a:r>
            <a:r>
              <a:rPr lang="" altLang="en-US" sz="2400">
                <a:latin typeface="Calibri Light" panose="020F0302020204030204" pitchFamily="34" charset="0"/>
                <a:ea typeface="Calibri Light" panose="020F0302020204030204" pitchFamily="34" charset="0"/>
                <a:cs typeface="Calibri Light" panose="020F0302020204030204" pitchFamily="34" charset="0"/>
              </a:rPr>
              <a:t>ư</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u </a:t>
            </a:r>
            <a:r>
              <a:rPr lang="" altLang="en-US" sz="2400">
                <a:latin typeface="Calibri Light" panose="020F0302020204030204" pitchFamily="34" charset="0"/>
                <a:ea typeface="Calibri Light" panose="020F0302020204030204" pitchFamily="34" charset="0"/>
                <a:cs typeface="Calibri Light" panose="020F0302020204030204" pitchFamily="34" charset="0"/>
              </a:rPr>
              <a:t>đ</a:t>
            </a:r>
            <a:r>
              <a:rPr lang="en-US" altLang="en-US" sz="2400">
                <a:latin typeface="Calibri Light" panose="020F0302020204030204" pitchFamily="34" charset="0"/>
                <a:ea typeface="Calibri Light" panose="020F0302020204030204" pitchFamily="34" charset="0"/>
                <a:cs typeface="Calibri Light" panose="020F0302020204030204" pitchFamily="34" charset="0"/>
              </a:rPr>
              <a:t>ãi khách hàng thân thiết</a:t>
            </a:r>
            <a:br>
              <a:rPr lang="en-US" altLang="en-US" sz="2800" b="1">
                <a:latin typeface="Calibri Light" panose="020F0302020204030204" pitchFamily="34" charset="0"/>
                <a:ea typeface="Calibri Light" panose="020F0302020204030204" pitchFamily="34" charset="0"/>
                <a:cs typeface="Calibri Light" panose="020F0302020204030204" pitchFamily="34" charset="0"/>
              </a:rPr>
            </a:br>
            <a:endParaRPr lang="en-US" altLang="en-US" sz="2800" b="1">
              <a:latin typeface="Calibri Light" panose="020F0302020204030204" pitchFamily="34" charset="0"/>
              <a:ea typeface="Calibri Light" panose="020F0302020204030204" pitchFamily="34" charset="0"/>
              <a:cs typeface="Calibri Light" panose="020F0302020204030204"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55765" y="1906543"/>
            <a:ext cx="10515600" cy="2404200"/>
          </a:xfrm>
        </p:spPr>
        <p:txBody>
          <a:bodyPr>
            <a:normAutofit/>
          </a:bodyPr>
          <a:lstStyle/>
          <a:p>
            <a:pPr algn="ctr"/>
            <a:r>
              <a:rPr lang="en-US" sz="6000" b="1" smtClean="0"/>
              <a:t>Cảm ơn quý thầy cô và các bạn</a:t>
            </a:r>
            <a:br>
              <a:rPr lang="en-US" sz="6000" b="1" smtClean="0"/>
            </a:br>
            <a:r>
              <a:rPr lang="en-US" sz="6000" b="1" smtClean="0"/>
              <a:t> đã lắng nghe!</a:t>
            </a:r>
            <a:endParaRPr lang="en-US" sz="6000" b="1"/>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6810</Words>
  <Application>WPS Presentation</Application>
  <PresentationFormat>Widescreen</PresentationFormat>
  <Paragraphs>50</Paragraphs>
  <Slides>19</Slides>
  <Notes>0</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19</vt:i4>
      </vt:variant>
    </vt:vector>
  </HeadingPairs>
  <TitlesOfParts>
    <vt:vector size="29" baseType="lpstr">
      <vt:lpstr>Arial</vt:lpstr>
      <vt:lpstr>SimSun</vt:lpstr>
      <vt:lpstr>Wingdings</vt:lpstr>
      <vt:lpstr>Times New Roman</vt:lpstr>
      <vt:lpstr>Calibri Light</vt:lpstr>
      <vt:lpstr>Calibri</vt:lpstr>
      <vt:lpstr>Microsoft YaHei</vt:lpstr>
      <vt:lpstr>Arial Unicode MS</vt:lpstr>
      <vt:lpstr>Office Theme</vt:lpstr>
      <vt:lpstr>1_Office Theme</vt:lpstr>
      <vt:lpstr>TRƯỜNG ĐẠI HỌC TRÀ VINH KHOA KỸ THUẬT VÀ CÔNG NGHỆ</vt:lpstr>
      <vt:lpstr>Các nội dung chính của đề tài: 	1. Lý do chọn đề tài  	2. Mục tiêu nghiên cứu  	3. Cơ sở lý thuyết 	4. Mô tả bài toán 	5. Cơ sở dữ liệu 	6. Mô hình xử lý 	7. Kết quả đạt được 	8. Hạn chế và hướng phát triển </vt:lpstr>
      <vt:lpstr>1. Lý do chọn đề tài  	Ngày nay, thú cưng ngày càng được nhiều người coi như thành viên trong gia đình. Nhu cầu mua sắm các sản phẩm phụ kiện cho thú cưng như thức ăn, đồ chơi, quần áo, và các vật dụng chăm sóc sức khỏe ngày càng tăng cao. Tuy nhiên, thị trường trực tuyến tại Việt Nam chưa có nhiều nền tảng chuyên biệt cung cấp các sản phẩm này một cách thuận tiện và hiện đại.  	Với sự phát triển mạnh mẽ của công nghệ .NET trong xây dựng ứng dụng web, việc nghiên cứu và áp dụng nền tảng này để xây dựng một website bán phụ kiện thú cưng là một hướng đi tiềm năng nhằm đáp ứng nhu cầu thực tế. </vt:lpstr>
      <vt:lpstr>2. Mục tiêu nghiên cứu  - Tìm hiểu cách áp dụng công nghệ .NET vào xây dựng một website thương mại điện tử.  - Phát triển một nền tảng mua sắm trực tuyến chuyên biệt dành cho phụ kiện thú cưng, giúp người dùng dễ dàng tìm kiếm, lựa chọn và mua sắm các sản phẩm phù hợp.  - Cải thiện trải nghiệm người dùng thông qua giao diện thân thiện, tính năng tìm kiếm nhanh, và tích hợp các phương thức thanh toán an toàn. - Nghiên cứu về các ngôn ngữ lập trình: HTML, CSS, JavaScript, C#, SQL Server và framework ASP.NET.  </vt:lpstr>
      <vt:lpstr>3. Cơ sở lý thuyết</vt:lpstr>
      <vt:lpstr>4. Mô tả bài toán  	Bài toán xây dựng website bán phụ kiện thú cưng được thực hiện nhằm tự động hóa quy trình kinh doanh của các doanh nghiệp, giảm thiểu thời gian, chi phí và nâng cao hiệu suất. Hệ  thống sẽ có các yêu cầu cơ bản: - Quản lý sản phẩm: bao gồm tên sản phẩm, danh mục sản phẩm, giá cả, mô tả, chi tiết sản phẩm, hình ảnh sản phẩm,… - Quản lý đơn hàng: bao gồm thông tin sản phẩm mà khách hàng đã đặt, lịch sử đặt hàng,…. - Quản lý tài khoản: thông tin khách hàng đã đăng ký , các quyền truy cập,… - Quản lý doanh thu.  </vt:lpstr>
      <vt:lpstr>4. Mô tả bài toán  Website cho phép người dùng: - Đăng ký và đăng nhập vào hệ thống. - Xem các sản phẩm có trong danh mục bao gồm các thông tin như: tên sản phẩm, mô tả sản phẩm, số lượng, hình ảnh, giá cả,… - Tìm kiếm sản phẩm theo tên, danh mục hoặc giá. - Thêm các sản vào danh sách yêu thích và giỏ hàng, có thể tùy chỉnh số lượng theo nhu cầu của người mua. - Đặt hàng các sản phẩm đã thêm vào giỏ hàng. - Người dùng có thể xem trang giới thiệu, trang tin tức, khuyến mãi và liên h với người quản trị bằng các phương thức khác nhau.  </vt:lpstr>
      <vt:lpstr>4. Mô tả bài toán  Website cho phép người quản trị: - Tương tác với danh mục, bài viết, tin tức: xem, thêm, xóa, sửa thông tin danh mục như: tên danh mục, mô tả, hình,.. - Tương tác với sản phẩm: xem, thêm, xóa, sửa thông tin sản phẩm như: tên sản phẩm, hình ảnh, mã sản phẩm, alias, mô tả, chi tiết sản phẩm, giá cả. - Xem đơn hàng và cập nhật đơn hàng. - Quản lý thông tin khách hàng.  </vt:lpstr>
      <vt:lpstr>5.  Cơ sở dữ liệu 	Mô hình dữ liệu ở mức quan niệm</vt:lpstr>
      <vt:lpstr>5.  Cơ sở dữ liệu 	Mô hình dữ liệu ở mức logic</vt:lpstr>
      <vt:lpstr>5.  Cơ sở dữ liệu 	Sơ đồ mối quan hệ giữa các bảng</vt:lpstr>
      <vt:lpstr>6. Mô hình xử lý 	Sơ đồ use case người dùng</vt:lpstr>
      <vt:lpstr>6. Mô hình xử lý 	Sơ đồ use case quản trị viên</vt:lpstr>
      <vt:lpstr>7. Kết quả đạt được - Hiểu được cách hoạt động của ASP.NET MVC và ngôn ngữ C#. - Hiểu được cách một website bán phụ kiện thú cưng hoạt động. - Biết được thêm về nghiệp vụ kinh doanh bán phụ kiện cho thú cưng. - Hoàn thành hệ thống website cơ bản: Xây dựng thành công website với giao diện thân thiện, bao gồm các danh mục sản phẩm và thông tin chi tiết rõ ràng, dễ dàng sử dụng cho cả người mua và người quản lý. - Nâng cao trải nghiệm người dùng:Website cho phép khách hàng xem thông tin sản phẩm qua hình ảnh, mô tả, giá cả và đánh giá từ người dùng khác. - Tiện lợi cho khách hàng:Người dùng có thể đặt hàng mọi lúc, mọi nơi thông qua website mà không cần đến cửa hàng trực tiếp. - Tăng cường tương tác và tiếp cận khách hàng:Website hỗ trợ hiển thị các sản phẩm bán chạy hoặc sản phẩm khuyến mãi, kích thích nhu cầu mua sắm của người dùng. </vt:lpstr>
      <vt:lpstr>7. Kết quả đạt được  	Đối với quản trị viên, website cho phép: 	Xem, thêm, xóa, sửa danh mục. 	Xem, thêm, xóa, sửa sản phẩm. 	Xem, thêm, xóa, sửa tin tức. 	Xem, thêm, xóa, sửa bài viết. 	Xem, thêm, xóa, sửa danh mục sản phẩm. 	Xem và cập nhật đơn hàng. 	Xem doanh thu và các đơn đơn hàng. </vt:lpstr>
      <vt:lpstr>7. Kết quả đạt được  	Đối với người dùng, website cho phép: 	Đăng ký và đăng nhập vào website. 	Xem thông tin danh mục chi tiết sản phẩm và đánh giá sản phẩm. 	Đặt hàng và thông báo về mail. 	Tìm kiếm sản phẩm theo tên, danh mục hoặc lọc giá. 	Thêm sản phẩm vào danh sách yêu thích và giỏ hàng. 	Xem các bài viết và thông tin khuyến mãi. 	Xem giới thiệu về website và liên hệ. 	Xem thông tin tài khoản đã đăng ký. </vt:lpstr>
      <vt:lpstr>8. Hạn chế và hướng phát triển  	Hạn chế - Chưa hỗ trợ tốt trên các thiết bị di động hoặc các trình duyệt khác nhau, làm giảm trải nghiệm của người dùng. - Một số tính năng quan trọng như gợi ý sản phẩm theo nhu cầu, bộ lọc tìm kiếm nâng cao hoặc quản lý lịch sử mua hàng của khách hàng chưa được phát triển đầy đủ. - Thiếu đa dạng phương thức thanh toán. - Thông tin cập nhật chưa chi tiết: Khách hàng không thể theo dõi trạng thái đơn hàng một cách chi tiết (như đang xử lý, đã đóng gói, đang vận chuyển). Điều này gây khó khăn cho khách hàng khi cần biết tình trạng thực tế của đơn hàng. </vt:lpstr>
      <vt:lpstr>8. Hạn chế và hướng phát triển  	Hướng phát triển - Khắc phục các hạn chế của website.- - Thêm các tính năng như chọn size, chọn màu. - Đề xuất các sản phẩm dự theo sở thích của người dùng. - Định hướng mở rộng quy mô của website. - Nâng cấp hệ thống thanh toán. - Phát triển chức năng theo dõi đơn hàng </vt:lpstr>
      <vt:lpstr>Cảm ơn quý thầy cô và các bạn  đã lắng nghe!</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TRÀ VINH KHOA KỸ THUẬT VÀ CÔNG NGHỆ</dc:title>
  <dc:creator>ACER</dc:creator>
  <cp:lastModifiedBy>hphuc</cp:lastModifiedBy>
  <cp:revision>15</cp:revision>
  <dcterms:created xsi:type="dcterms:W3CDTF">2024-12-29T10:31:00Z</dcterms:created>
  <dcterms:modified xsi:type="dcterms:W3CDTF">2026-01-04T08:26:20Z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46E1D84D0BFE426A9E074E97DBD45ECA_12</vt:lpwstr>
  </property>
  <property fmtid="{D5CDD505-2E9C-101B-9397-08002B2CF9AE}" pid="3" name="KSOProductBuildVer">
    <vt:lpwstr>1033-12.2.0.22549</vt:lpwstr>
  </property>
</Properties>
</file>